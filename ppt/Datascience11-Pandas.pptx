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1"/>
  </p:notesMasterIdLst>
  <p:handoutMasterIdLst>
    <p:handoutMasterId r:id="rId32"/>
  </p:handoutMasterIdLst>
  <p:sldIdLst>
    <p:sldId id="264" r:id="rId2"/>
    <p:sldId id="265" r:id="rId3"/>
    <p:sldId id="266" r:id="rId4"/>
    <p:sldId id="294" r:id="rId5"/>
    <p:sldId id="274" r:id="rId6"/>
    <p:sldId id="275" r:id="rId7"/>
    <p:sldId id="285" r:id="rId8"/>
    <p:sldId id="286" r:id="rId9"/>
    <p:sldId id="287" r:id="rId10"/>
    <p:sldId id="288" r:id="rId11"/>
    <p:sldId id="289" r:id="rId12"/>
    <p:sldId id="279" r:id="rId13"/>
    <p:sldId id="290" r:id="rId14"/>
    <p:sldId id="291" r:id="rId15"/>
    <p:sldId id="292" r:id="rId16"/>
    <p:sldId id="276" r:id="rId17"/>
    <p:sldId id="282" r:id="rId18"/>
    <p:sldId id="283" r:id="rId19"/>
    <p:sldId id="303" r:id="rId20"/>
    <p:sldId id="284" r:id="rId21"/>
    <p:sldId id="293" r:id="rId22"/>
    <p:sldId id="305" r:id="rId23"/>
    <p:sldId id="304" r:id="rId24"/>
    <p:sldId id="302" r:id="rId25"/>
    <p:sldId id="295" r:id="rId26"/>
    <p:sldId id="296" r:id="rId27"/>
    <p:sldId id="297" r:id="rId28"/>
    <p:sldId id="298" r:id="rId29"/>
    <p:sldId id="306" r:id="rId30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590" autoAdjust="0"/>
  </p:normalViewPr>
  <p:slideViewPr>
    <p:cSldViewPr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Pandas</a:t>
            </a:r>
            <a:endParaRPr lang="fr-FR" altLang="fr-FR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7" y="5023445"/>
            <a:ext cx="6715125" cy="1285875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3107495" y="2132856"/>
            <a:ext cx="29290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Data Science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704" y="620688"/>
            <a:ext cx="5505450" cy="1285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Pandas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Python Data </a:t>
            </a:r>
            <a:r>
              <a:rPr lang="fr-FR" dirty="0" err="1"/>
              <a:t>Analysis</a:t>
            </a:r>
            <a:r>
              <a:rPr lang="fr-FR" dirty="0"/>
              <a:t> Library</a:t>
            </a:r>
          </a:p>
          <a:p>
            <a:r>
              <a:rPr lang="fr-FR" dirty="0"/>
              <a:t>Module Python</a:t>
            </a:r>
          </a:p>
          <a:p>
            <a:pPr lvl="1"/>
            <a:r>
              <a:rPr lang="fr-FR" dirty="0"/>
              <a:t>Disponible dans Anaconda</a:t>
            </a:r>
          </a:p>
          <a:p>
            <a:pPr lvl="1"/>
            <a:r>
              <a:rPr lang="fr-FR" dirty="0" err="1"/>
              <a:t>Pip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pandas</a:t>
            </a:r>
          </a:p>
          <a:p>
            <a:pPr lvl="1"/>
            <a:r>
              <a:rPr lang="fr-FR" dirty="0"/>
              <a:t>import pandas as </a:t>
            </a:r>
            <a:r>
              <a:rPr lang="fr-FR" dirty="0" err="1"/>
              <a:t>pd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95018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structures de données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Pandas fournit 2 structures de données fondamentales</a:t>
            </a:r>
          </a:p>
          <a:p>
            <a:pPr lvl="1"/>
            <a:r>
              <a:rPr lang="fr-FR" dirty="0"/>
              <a:t>la </a:t>
            </a:r>
            <a:r>
              <a:rPr lang="fr-FR" dirty="0" err="1"/>
              <a:t>Series</a:t>
            </a:r>
            <a:r>
              <a:rPr lang="fr-FR" dirty="0"/>
              <a:t> et le </a:t>
            </a:r>
            <a:r>
              <a:rPr lang="fr-FR" dirty="0" err="1"/>
              <a:t>DataFrame</a:t>
            </a:r>
            <a:r>
              <a:rPr lang="fr-FR" dirty="0"/>
              <a:t> </a:t>
            </a:r>
          </a:p>
          <a:p>
            <a:pPr lvl="1"/>
            <a:r>
              <a:rPr lang="fr-FR" dirty="0"/>
              <a:t>On peut voir ces structures comme une généralisation des tableaux et des matrices de </a:t>
            </a:r>
            <a:r>
              <a:rPr lang="fr-FR" dirty="0" err="1"/>
              <a:t>Numpy</a:t>
            </a:r>
            <a:endParaRPr lang="fr-FR" dirty="0"/>
          </a:p>
          <a:p>
            <a:pPr lvl="1"/>
            <a:r>
              <a:rPr lang="fr-FR" dirty="0"/>
              <a:t>La différence fondamentale entre ces structures et les versions de </a:t>
            </a:r>
            <a:r>
              <a:rPr lang="fr-FR" dirty="0" err="1"/>
              <a:t>Numpy</a:t>
            </a:r>
            <a:r>
              <a:rPr lang="fr-FR" dirty="0"/>
              <a:t> est que les objets Pandas possèdent des indices explicites</a:t>
            </a:r>
          </a:p>
          <a:p>
            <a:pPr lvl="1"/>
            <a:r>
              <a:rPr lang="fr-FR" dirty="0"/>
              <a:t>Là où on ne pouvait se référer à un élément d'un tableau </a:t>
            </a:r>
            <a:r>
              <a:rPr lang="fr-FR" dirty="0" err="1"/>
              <a:t>Numpy</a:t>
            </a:r>
            <a:r>
              <a:rPr lang="fr-FR" dirty="0"/>
              <a:t> que par sa position dans le tableau, chaque élément d'une </a:t>
            </a:r>
            <a:r>
              <a:rPr lang="fr-FR" dirty="0" err="1"/>
              <a:t>Series</a:t>
            </a:r>
            <a:r>
              <a:rPr lang="fr-FR" dirty="0"/>
              <a:t> ou d'un </a:t>
            </a:r>
            <a:r>
              <a:rPr lang="fr-FR" dirty="0" err="1"/>
              <a:t>DataFrame</a:t>
            </a:r>
            <a:r>
              <a:rPr lang="fr-FR" dirty="0"/>
              <a:t> peut avoir un indice explicitement désigné par l'utilisateur</a:t>
            </a:r>
          </a:p>
        </p:txBody>
      </p:sp>
    </p:spTree>
    <p:extLst>
      <p:ext uri="{BB962C8B-B14F-4D97-AF65-F5344CB8AC3E}">
        <p14:creationId xmlns:p14="http://schemas.microsoft.com/office/powerpoint/2010/main" val="1027414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1882B2-D869-4903-AEBE-0F44D6AFF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Import des données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B2081F70-5BFA-5A39-D477-13CA3FE281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79388" y="2495798"/>
            <a:ext cx="8766175" cy="2874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4909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Import de données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Pandas possède une librairie très puissante pour importer des données depuis n’importe quelle source</a:t>
            </a:r>
          </a:p>
          <a:p>
            <a:pPr lvl="1"/>
            <a:r>
              <a:rPr lang="fr-FR" dirty="0"/>
              <a:t>Puis les converti en </a:t>
            </a:r>
            <a:r>
              <a:rPr lang="fr-FR" dirty="0" err="1"/>
              <a:t>DataFrame</a:t>
            </a:r>
            <a:endParaRPr lang="fr-FR" dirty="0"/>
          </a:p>
          <a:p>
            <a:r>
              <a:rPr lang="fr-FR" dirty="0"/>
              <a:t>CSV</a:t>
            </a:r>
          </a:p>
          <a:p>
            <a:pPr marL="457200" lvl="1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house_data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pd.read_csv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('house.csv')</a:t>
            </a:r>
          </a:p>
          <a:p>
            <a:pPr marL="457200" lvl="1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plt.plot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house_data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['surface'],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house_data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['loyer'], 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',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markersize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=4)</a:t>
            </a:r>
          </a:p>
          <a:p>
            <a:pPr marL="457200" lvl="1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plt.show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56451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Import de données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SQL</a:t>
            </a:r>
          </a:p>
          <a:p>
            <a:pPr marL="457200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with sqlite3.connect("house.db3") as conn:</a:t>
            </a:r>
          </a:p>
          <a:p>
            <a:pPr marL="457200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house_data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pd.read_sql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('select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loyer,surface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from house', conn)</a:t>
            </a:r>
          </a:p>
          <a:p>
            <a:r>
              <a:rPr lang="fr-FR" dirty="0"/>
              <a:t>Mongo DB</a:t>
            </a:r>
          </a:p>
          <a:p>
            <a:pPr marL="457200" lvl="1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pymongo.MongoClient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localhost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', 27017) as client:</a:t>
            </a:r>
          </a:p>
          <a:p>
            <a:pPr marL="457200" lvl="1" indent="0">
              <a:buNone/>
            </a:pP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client.test</a:t>
            </a:r>
            <a:endParaRPr lang="fr-F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cursor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db.house.find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457200" lvl="1" indent="0">
              <a:buNone/>
            </a:pP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house_data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pd.DataFrame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cursor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457200" lvl="1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125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69CE5A-992B-4582-F160-BAE23DC89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Comment accéder aux colonnes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74E9A5-3A03-ECD7-4CBD-01BABCBCC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Comme un dictionnaire</a:t>
            </a:r>
          </a:p>
          <a:p>
            <a:pPr lvl="1"/>
            <a:r>
              <a:rPr lang="fr-FR" dirty="0" err="1"/>
              <a:t>df</a:t>
            </a:r>
            <a:r>
              <a:rPr lang="fr-FR" dirty="0"/>
              <a:t>["</a:t>
            </a:r>
            <a:r>
              <a:rPr lang="fr-FR" dirty="0" err="1"/>
              <a:t>nom_colonne</a:t>
            </a:r>
            <a:r>
              <a:rPr lang="fr-FR" dirty="0"/>
              <a:t>"]</a:t>
            </a:r>
          </a:p>
          <a:p>
            <a:pPr lvl="1"/>
            <a:r>
              <a:rPr lang="fr-FR" dirty="0" err="1"/>
              <a:t>df.nom_colonne</a:t>
            </a:r>
            <a:r>
              <a:rPr lang="fr-FR" dirty="0"/>
              <a:t> est plus rarement utilisé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BC50FD7-927E-2CD1-E583-E77935885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963" y="3068960"/>
            <a:ext cx="8592749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597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70F431-0DDD-84DD-AB66-B93D62F1E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Indexation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DEE8336-F873-FB7D-E3E6-C33EFDB70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Pandas va toujours créer une colonne d'index</a:t>
            </a:r>
          </a:p>
          <a:p>
            <a:pPr lvl="1"/>
            <a:r>
              <a:rPr lang="fr-FR" dirty="0"/>
              <a:t>Par défaut numéroté de 0 à n</a:t>
            </a:r>
          </a:p>
          <a:p>
            <a:pPr lvl="1"/>
            <a:r>
              <a:rPr lang="fr-FR" dirty="0"/>
              <a:t>Possible d'en assigner une par </a:t>
            </a:r>
            <a:r>
              <a:rPr lang="fr-FR" dirty="0" err="1"/>
              <a:t>index_col</a:t>
            </a:r>
            <a:endParaRPr lang="fr-FR" dirty="0"/>
          </a:p>
          <a:p>
            <a:pPr lvl="1"/>
            <a:r>
              <a:rPr lang="fr-FR" dirty="0"/>
              <a:t>Possible d'en créer par code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21B6969-53D8-C821-4D82-0E76A97FD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676" y="3170122"/>
            <a:ext cx="5835722" cy="3707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215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E4FE6-B100-FB19-A3F3-763B90E3A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Comment accéder aux lignes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406C9CB-BF72-A560-0914-4B3E1F589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Si vous connaissez l'index : </a:t>
            </a:r>
            <a:r>
              <a:rPr lang="fr-FR" dirty="0" err="1"/>
              <a:t>loc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131E942-F43A-4C3C-BC99-BAFBFFD2C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2780928"/>
            <a:ext cx="5753903" cy="286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999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5DEFC3-595B-2E77-3123-951C2BCF5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Accès par lignes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1F86E59-1A0B-2A63-7605-85C7CDE02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C'est du </a:t>
            </a:r>
            <a:r>
              <a:rPr lang="fr-FR" dirty="0" err="1"/>
              <a:t>numpy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55A1048-EF23-FFF6-597A-F55D8EBE7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2776"/>
            <a:ext cx="9144000" cy="565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382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8179BB-07DE-C2D6-3573-7EA4CF98D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Accès par numéro de lignes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E6271CF-1EE7-0B8A-3ACE-EC1F4FCD0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Si on connait le numéro de ligne : </a:t>
            </a:r>
            <a:r>
              <a:rPr lang="fr-FR" dirty="0" err="1"/>
              <a:t>iloc</a:t>
            </a:r>
            <a:endParaRPr lang="fr-FR" dirty="0"/>
          </a:p>
          <a:p>
            <a:pPr lvl="1"/>
            <a:r>
              <a:rPr lang="fr-FR" dirty="0"/>
              <a:t>Fonctionne comme </a:t>
            </a:r>
            <a:r>
              <a:rPr lang="fr-FR" dirty="0" err="1"/>
              <a:t>loc</a:t>
            </a:r>
            <a:r>
              <a:rPr lang="fr-FR" dirty="0"/>
              <a:t>() mais avec un numéro de ligne</a:t>
            </a:r>
          </a:p>
        </p:txBody>
      </p:sp>
    </p:spTree>
    <p:extLst>
      <p:ext uri="{BB962C8B-B14F-4D97-AF65-F5344CB8AC3E}">
        <p14:creationId xmlns:p14="http://schemas.microsoft.com/office/powerpoint/2010/main" val="36773387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956A91-4F66-46CD-A8A1-53898EF00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Describe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BD2517-F64F-4502-9320-C748206CC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Describe</a:t>
            </a:r>
            <a:r>
              <a:rPr lang="fr-FR" dirty="0"/>
              <a:t> permet de calculer les données de bases de chaque colonne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E8BBD6F-ED22-4F1F-B0DB-F1243EDC1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" y="3058309"/>
            <a:ext cx="7439025" cy="237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46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EA8E48-E60D-3F2F-8762-A6E3EBEAC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séries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89AB15B-3DC6-E64F-94BF-FBFD4AA62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s'agit d'une colonne d'un </a:t>
            </a:r>
            <a:r>
              <a:rPr lang="fr-FR" dirty="0" err="1"/>
              <a:t>Dataframe</a:t>
            </a:r>
            <a:endParaRPr lang="fr-FR" dirty="0"/>
          </a:p>
          <a:p>
            <a:r>
              <a:rPr lang="fr-FR" dirty="0"/>
              <a:t>Peut être créée par programmation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2CE7A8B-155D-DBB4-3509-F7C298E54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52" y="3429000"/>
            <a:ext cx="8021169" cy="175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8917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EB2620-6734-CB39-E8E3-D49A6E281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Filtrage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9AE4EF6-33CC-DAED-D1E2-05F55B2AE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L'opérateur [] permet de filtrer les lignes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22516B7-7F1F-1644-D761-48C0CD199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8840"/>
            <a:ext cx="9144000" cy="4077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265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70E609-6F2C-72CC-CBC9-1FA46EBEF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masques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3549B5-69ED-87E8-EC1D-D81012B1C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est possible de stocker la clause de filtre dans une variable masque</a:t>
            </a:r>
          </a:p>
          <a:p>
            <a:pPr lvl="1"/>
            <a:r>
              <a:rPr lang="fr-FR" dirty="0"/>
              <a:t>Il s'agit d'un tableau de </a:t>
            </a:r>
            <a:r>
              <a:rPr lang="fr-FR" dirty="0" err="1"/>
              <a:t>bool</a:t>
            </a:r>
            <a:endParaRPr lang="fr-FR" dirty="0"/>
          </a:p>
          <a:p>
            <a:pPr lvl="1"/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236064A-D6D7-FA9A-D9E2-6075CCEC4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205" y="2933631"/>
            <a:ext cx="7087589" cy="99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1565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Filtrage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Filtrage du </a:t>
            </a:r>
            <a:r>
              <a:rPr lang="fr-FR" dirty="0" err="1"/>
              <a:t>DataFrame</a:t>
            </a:r>
            <a:endParaRPr lang="fr-FR" dirty="0"/>
          </a:p>
          <a:p>
            <a:pPr lvl="1"/>
            <a:r>
              <a:rPr lang="fr-FR" dirty="0" err="1"/>
              <a:t>Dataframe</a:t>
            </a:r>
            <a:r>
              <a:rPr lang="fr-FR" dirty="0"/>
              <a:t> = </a:t>
            </a:r>
            <a:r>
              <a:rPr lang="fr-FR" dirty="0" err="1"/>
              <a:t>dataframe</a:t>
            </a:r>
            <a:r>
              <a:rPr lang="fr-FR" dirty="0"/>
              <a:t>[</a:t>
            </a:r>
            <a:r>
              <a:rPr lang="fr-FR" dirty="0" err="1"/>
              <a:t>dataframe</a:t>
            </a:r>
            <a:r>
              <a:rPr lang="fr-FR" dirty="0"/>
              <a:t>["surface"] &lt; 200]</a:t>
            </a:r>
          </a:p>
          <a:p>
            <a:r>
              <a:rPr lang="fr-FR" dirty="0"/>
              <a:t>Enlever une dimension</a:t>
            </a:r>
          </a:p>
          <a:p>
            <a:pPr lvl="1"/>
            <a:r>
              <a:rPr lang="fr-FR" dirty="0" err="1"/>
              <a:t>Dataframe.drop</a:t>
            </a:r>
            <a:r>
              <a:rPr lang="fr-FR" dirty="0"/>
              <a:t>(‘Colonne’, axis=1)</a:t>
            </a:r>
          </a:p>
          <a:p>
            <a:r>
              <a:rPr lang="fr-FR" dirty="0"/>
              <a:t>Ajouter une colonne</a:t>
            </a:r>
          </a:p>
          <a:p>
            <a:pPr lvl="1"/>
            <a:r>
              <a:rPr lang="fr-FR" dirty="0" err="1"/>
              <a:t>Dataframe</a:t>
            </a:r>
            <a:r>
              <a:rPr lang="fr-FR" dirty="0"/>
              <a:t>["Colonne"] = </a:t>
            </a:r>
            <a:r>
              <a:rPr lang="fr-FR" dirty="0" err="1"/>
              <a:t>series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323849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Gestion des NaN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Chargement des na values</a:t>
            </a:r>
          </a:p>
          <a:p>
            <a:pPr lvl="1"/>
            <a:r>
              <a:rPr lang="fr-FR" dirty="0"/>
              <a:t>Attribut </a:t>
            </a:r>
            <a:r>
              <a:rPr lang="fr-FR" dirty="0" err="1"/>
              <a:t>na_values</a:t>
            </a:r>
            <a:r>
              <a:rPr lang="fr-FR" dirty="0"/>
              <a:t>="." dans </a:t>
            </a:r>
            <a:r>
              <a:rPr lang="fr-FR" dirty="0" err="1"/>
              <a:t>read_csv</a:t>
            </a:r>
            <a:endParaRPr lang="fr-FR" dirty="0"/>
          </a:p>
          <a:p>
            <a:r>
              <a:rPr lang="fr-FR" dirty="0"/>
              <a:t>Remplacer les champs nuls</a:t>
            </a:r>
          </a:p>
          <a:p>
            <a:pPr lvl="1"/>
            <a:r>
              <a:rPr lang="fr-FR" dirty="0" err="1"/>
              <a:t>dataframe.codePostal</a:t>
            </a:r>
            <a:r>
              <a:rPr lang="fr-FR" dirty="0"/>
              <a:t> = </a:t>
            </a:r>
            <a:r>
              <a:rPr lang="fr-FR" dirty="0" err="1"/>
              <a:t>dataframe.codePostal.fillna</a:t>
            </a:r>
            <a:r>
              <a:rPr lang="fr-FR" dirty="0"/>
              <a:t>('38000')</a:t>
            </a:r>
          </a:p>
          <a:p>
            <a:r>
              <a:rPr lang="fr-FR" dirty="0"/>
              <a:t>Effacer les lignes nuls</a:t>
            </a:r>
          </a:p>
          <a:p>
            <a:pPr lvl="1"/>
            <a:r>
              <a:rPr lang="fr-FR" dirty="0" err="1"/>
              <a:t>dropna</a:t>
            </a:r>
            <a:r>
              <a:rPr lang="fr-FR" dirty="0"/>
              <a:t>()</a:t>
            </a:r>
          </a:p>
          <a:p>
            <a:r>
              <a:rPr lang="fr-FR" dirty="0"/>
              <a:t>Changement de valeurs</a:t>
            </a:r>
          </a:p>
          <a:p>
            <a:pPr lvl="1"/>
            <a:r>
              <a:rPr lang="fr-FR" dirty="0" err="1"/>
              <a:t>dataframe.surface</a:t>
            </a:r>
            <a:r>
              <a:rPr lang="fr-FR" dirty="0"/>
              <a:t> = </a:t>
            </a:r>
            <a:r>
              <a:rPr lang="fr-FR" dirty="0" err="1"/>
              <a:t>dataframe</a:t>
            </a:r>
            <a:r>
              <a:rPr lang="fr-FR" dirty="0"/>
              <a:t>[‘surface'].replace(',', '.',</a:t>
            </a:r>
            <a:r>
              <a:rPr lang="fr-FR" dirty="0" err="1"/>
              <a:t>regex</a:t>
            </a:r>
            <a:r>
              <a:rPr lang="fr-FR" dirty="0"/>
              <a:t>=</a:t>
            </a:r>
            <a:r>
              <a:rPr lang="fr-FR" dirty="0" err="1"/>
              <a:t>True</a:t>
            </a:r>
            <a:r>
              <a:rPr lang="fr-FR" dirty="0"/>
              <a:t>).</a:t>
            </a:r>
            <a:r>
              <a:rPr lang="fr-FR" dirty="0" err="1"/>
              <a:t>astype</a:t>
            </a:r>
            <a:r>
              <a:rPr lang="fr-FR" dirty="0"/>
              <a:t>(</a:t>
            </a:r>
            <a:r>
              <a:rPr lang="fr-FR" dirty="0" err="1"/>
              <a:t>float</a:t>
            </a:r>
            <a:r>
              <a:rPr lang="fr-FR" dirty="0"/>
              <a:t>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422520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09BC61-C093-2D88-B76D-C5EE4D49C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DC966DC-89F9-31C5-C605-5D6308477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Trouver le nombre de NaN dans une série</a:t>
            </a:r>
          </a:p>
          <a:p>
            <a:pPr lvl="1"/>
            <a:r>
              <a:rPr lang="fr-FR" dirty="0" err="1"/>
              <a:t>dataframe.isnull</a:t>
            </a:r>
            <a:r>
              <a:rPr lang="fr-FR" dirty="0"/>
              <a:t>().</a:t>
            </a:r>
            <a:r>
              <a:rPr lang="fr-FR" dirty="0" err="1"/>
              <a:t>sum</a:t>
            </a:r>
            <a:r>
              <a:rPr lang="fr-FR" dirty="0"/>
              <a:t>()</a:t>
            </a:r>
          </a:p>
          <a:p>
            <a:r>
              <a:rPr lang="fr-FR" dirty="0"/>
              <a:t>Remplacer les valeurs nulles par un moyenne + du bruit</a:t>
            </a:r>
          </a:p>
          <a:p>
            <a:pPr lvl="1"/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5069445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3CF942-EB51-731E-AE4A-95114F862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apply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E75D0D-DF5E-F9BB-8A3F-9C367CC65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Permet d'appliquer une fonction sur les lignes</a:t>
            </a:r>
          </a:p>
          <a:p>
            <a:pPr lvl="1"/>
            <a:r>
              <a:rPr lang="fr-FR" dirty="0"/>
              <a:t>Prend en paramètre une fonction ou lambda</a:t>
            </a:r>
          </a:p>
          <a:p>
            <a:pPr lvl="1"/>
            <a:r>
              <a:rPr lang="fr-FR" dirty="0" err="1"/>
              <a:t>df.apply</a:t>
            </a:r>
            <a:r>
              <a:rPr lang="fr-FR" dirty="0"/>
              <a:t>(</a:t>
            </a:r>
            <a:r>
              <a:rPr lang="fr-FR" dirty="0" err="1"/>
              <a:t>np.cos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Renvoi un </a:t>
            </a:r>
            <a:r>
              <a:rPr lang="fr-FR" dirty="0" err="1"/>
              <a:t>dataframe</a:t>
            </a:r>
            <a:r>
              <a:rPr lang="fr-FR" dirty="0"/>
              <a:t> où toutes les colonnes on été transformée en cos</a:t>
            </a:r>
          </a:p>
          <a:p>
            <a:pPr lvl="1"/>
            <a:r>
              <a:rPr lang="fr-FR" dirty="0"/>
              <a:t>Il est possible de spécifier les colonnes avec </a:t>
            </a:r>
            <a:r>
              <a:rPr lang="fr-FR" dirty="0" err="1"/>
              <a:t>columns</a:t>
            </a:r>
            <a:r>
              <a:rPr lang="fr-FR" dirty="0"/>
              <a:t>=["</a:t>
            </a:r>
            <a:r>
              <a:rPr lang="fr-FR" dirty="0" err="1"/>
              <a:t>colA</a:t>
            </a:r>
            <a:r>
              <a:rPr lang="fr-FR" dirty="0"/>
              <a:t>", "</a:t>
            </a:r>
            <a:r>
              <a:rPr lang="fr-FR" dirty="0" err="1"/>
              <a:t>colB</a:t>
            </a:r>
            <a:r>
              <a:rPr lang="fr-FR" dirty="0"/>
              <a:t>"]</a:t>
            </a:r>
          </a:p>
          <a:p>
            <a:r>
              <a:rPr lang="fr-FR" dirty="0"/>
              <a:t>Avec une lambda sur une série</a:t>
            </a:r>
          </a:p>
          <a:p>
            <a:pPr lvl="1"/>
            <a:r>
              <a:rPr lang="fr-FR" dirty="0" err="1"/>
              <a:t>serie.apply</a:t>
            </a:r>
            <a:r>
              <a:rPr lang="fr-FR" dirty="0"/>
              <a:t>(lambda x: </a:t>
            </a:r>
            <a:r>
              <a:rPr lang="fr-FR" dirty="0" err="1"/>
              <a:t>np.cos</a:t>
            </a:r>
            <a:r>
              <a:rPr lang="fr-FR" dirty="0"/>
              <a:t>(x))</a:t>
            </a:r>
          </a:p>
        </p:txBody>
      </p:sp>
    </p:spTree>
    <p:extLst>
      <p:ext uri="{BB962C8B-B14F-4D97-AF65-F5344CB8AC3E}">
        <p14:creationId xmlns:p14="http://schemas.microsoft.com/office/powerpoint/2010/main" val="20739908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42E9F1-8EC8-2E18-757C-15A5F2196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axes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87AD5AF-6631-64C1-5C1B-21830F9CC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Fonctionne comme dans </a:t>
            </a:r>
            <a:r>
              <a:rPr lang="fr-FR" dirty="0" err="1"/>
              <a:t>numpy</a:t>
            </a:r>
            <a:endParaRPr lang="fr-FR" dirty="0"/>
          </a:p>
          <a:p>
            <a:pPr lvl="1"/>
            <a:r>
              <a:rPr lang="fr-FR" dirty="0"/>
              <a:t>Ainsi pour supprimer une colonne la fonction drop nécessite un axe = 1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E090560-9956-6A63-C2F9-AA58E0718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463" y="2996952"/>
            <a:ext cx="9144000" cy="3061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8472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834E1E-A756-71C3-BFB2-51CF35A9D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Filtrage de texte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08FCB54-F5E9-CFF8-F57A-4283094E9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filter</a:t>
            </a:r>
            <a:endParaRPr lang="fr-FR" dirty="0"/>
          </a:p>
          <a:p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E10DED7-442E-EC9D-D0F2-EDB3AA59B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8840"/>
            <a:ext cx="9144000" cy="430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3809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403EEA-4A79-D1BF-6A48-562E9A968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Valeurs discrètes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23998A6-7629-5802-A1B7-FD09DACE3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Certaines valeurs entières sont en fait des catégories</a:t>
            </a:r>
          </a:p>
          <a:p>
            <a:pPr lvl="1"/>
            <a:r>
              <a:rPr lang="fr-FR" dirty="0"/>
              <a:t>Valeurs qualitatives ou discrètes</a:t>
            </a:r>
          </a:p>
          <a:p>
            <a:r>
              <a:rPr lang="fr-FR" dirty="0"/>
              <a:t>Il est possible de les typer .</a:t>
            </a:r>
            <a:r>
              <a:rPr lang="fr-FR" dirty="0" err="1"/>
              <a:t>astype</a:t>
            </a:r>
            <a:r>
              <a:rPr lang="fr-FR" dirty="0"/>
              <a:t>("</a:t>
            </a:r>
            <a:r>
              <a:rPr lang="fr-FR" dirty="0" err="1"/>
              <a:t>category</a:t>
            </a:r>
            <a:r>
              <a:rPr lang="fr-FR" dirty="0"/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19411083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571781-7D5E-4BB0-A77F-7886787B4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Discrétisation des données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421750-845C-8492-F735-64FBF0C42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Permet de transformer des valeurs continues en valeurs discrètes</a:t>
            </a:r>
          </a:p>
          <a:p>
            <a:pPr lvl="1"/>
            <a:r>
              <a:rPr lang="fr-FR" dirty="0"/>
              <a:t>a=values = </a:t>
            </a:r>
            <a:r>
              <a:rPr lang="fr-FR" dirty="0" err="1"/>
              <a:t>np.arange</a:t>
            </a:r>
            <a:r>
              <a:rPr lang="fr-FR" dirty="0"/>
              <a:t>(50)</a:t>
            </a:r>
          </a:p>
          <a:p>
            <a:pPr lvl="1"/>
            <a:r>
              <a:rPr lang="en-US" dirty="0"/>
              <a:t>bins = [-1, 0, 4, 8, 24, 50]</a:t>
            </a:r>
          </a:p>
          <a:p>
            <a:pPr lvl="1"/>
            <a:r>
              <a:rPr lang="en-US" dirty="0"/>
              <a:t>categories = </a:t>
            </a:r>
            <a:r>
              <a:rPr lang="fr-FR" dirty="0" err="1"/>
              <a:t>pd.cut</a:t>
            </a:r>
            <a:r>
              <a:rPr lang="fr-FR" dirty="0"/>
              <a:t>(a, </a:t>
            </a:r>
            <a:r>
              <a:rPr lang="fr-FR" dirty="0" err="1"/>
              <a:t>bins</a:t>
            </a:r>
            <a:r>
              <a:rPr lang="fr-FR" dirty="0"/>
              <a:t>=</a:t>
            </a:r>
            <a:r>
              <a:rPr lang="fr-FR" dirty="0" err="1"/>
              <a:t>bins</a:t>
            </a:r>
            <a:r>
              <a:rPr lang="fr-FR" dirty="0"/>
              <a:t>, labels=False)</a:t>
            </a:r>
          </a:p>
          <a:p>
            <a:pPr lvl="1"/>
            <a:r>
              <a:rPr lang="fr-FR" dirty="0"/>
              <a:t>Les valeurs à 0 =&gt; 0</a:t>
            </a:r>
          </a:p>
          <a:p>
            <a:pPr lvl="1"/>
            <a:r>
              <a:rPr lang="fr-FR" dirty="0"/>
              <a:t>Entre ]0, 4] =&gt; 1</a:t>
            </a:r>
          </a:p>
          <a:p>
            <a:pPr lvl="1"/>
            <a:r>
              <a:rPr lang="fr-FR" dirty="0"/>
              <a:t>Entre ]4, 8] =&gt; 2</a:t>
            </a:r>
          </a:p>
          <a:p>
            <a:pPr lvl="1"/>
            <a:r>
              <a:rPr lang="fr-FR" dirty="0"/>
              <a:t>Entre ]8, 24] =&gt; 3</a:t>
            </a:r>
          </a:p>
          <a:p>
            <a:pPr lvl="1"/>
            <a:r>
              <a:rPr lang="fr-FR" dirty="0"/>
              <a:t>Entre ]24, 50] =&gt; 4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659036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FC7526-2F88-AC80-C86D-70D819BAC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Itération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1D88AE8-1268-3523-3842-C8789D1A3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est possible de boucle sur les lignes et colonnes</a:t>
            </a:r>
          </a:p>
          <a:p>
            <a:r>
              <a:rPr lang="fr-FR" dirty="0"/>
              <a:t>for col in </a:t>
            </a:r>
            <a:r>
              <a:rPr lang="fr-FR" dirty="0" err="1"/>
              <a:t>dataframe</a:t>
            </a:r>
            <a:endParaRPr lang="fr-FR" dirty="0"/>
          </a:p>
          <a:p>
            <a:pPr lvl="1"/>
            <a:r>
              <a:rPr lang="fr-FR" dirty="0"/>
              <a:t>Boucle sur les colonnes</a:t>
            </a:r>
          </a:p>
          <a:p>
            <a:r>
              <a:rPr lang="fr-FR" dirty="0" err="1"/>
              <a:t>iterrows</a:t>
            </a:r>
            <a:endParaRPr lang="fr-FR" dirty="0"/>
          </a:p>
          <a:p>
            <a:pPr lvl="1"/>
            <a:r>
              <a:rPr lang="fr-FR" dirty="0"/>
              <a:t>Itère sur les lignes</a:t>
            </a:r>
          </a:p>
          <a:p>
            <a:pPr lvl="1"/>
            <a:r>
              <a:rPr lang="fr-FR" dirty="0"/>
              <a:t>for index, </a:t>
            </a:r>
            <a:r>
              <a:rPr lang="fr-FR" dirty="0" err="1"/>
              <a:t>row</a:t>
            </a:r>
            <a:r>
              <a:rPr lang="fr-FR" dirty="0"/>
              <a:t> in </a:t>
            </a:r>
            <a:r>
              <a:rPr lang="fr-FR" dirty="0" err="1"/>
              <a:t>df.iterrows</a:t>
            </a:r>
            <a:r>
              <a:rPr lang="fr-FR"/>
              <a:t>()</a:t>
            </a:r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396195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A6F3D7-97B4-88FD-1E8B-3F96A386E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Group by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9F3AF4-EB3E-C115-1B33-118B0AC08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Permet de regrouper de données et d'appliquer des fonctions de regroupement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2ECD06E-E3B5-6C7E-8F1C-2D6849AD6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6" y="2381142"/>
            <a:ext cx="9144000" cy="4079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920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5147BB-CD89-F1F3-3052-CC2C376E6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Concaténation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A72FBBF-F649-C0C0-546F-7539346A34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996B8EC-84F3-482F-BE41-CE4828F8F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1739"/>
            <a:ext cx="9144000" cy="4294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2112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EB7506-0C00-CFD5-4BDB-C2743E844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Jointure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4D44093-DD58-9993-8848-14046F0A7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Permet de joindre 2 </a:t>
            </a:r>
            <a:r>
              <a:rPr lang="fr-FR" dirty="0" err="1"/>
              <a:t>dataframes</a:t>
            </a:r>
            <a:r>
              <a:rPr lang="fr-FR" dirty="0"/>
              <a:t> avec une clé commune</a:t>
            </a:r>
          </a:p>
          <a:p>
            <a:pPr lvl="1"/>
            <a:r>
              <a:rPr lang="fr-FR" dirty="0"/>
              <a:t>Jointure à gauche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5D9DC26-57E2-BCA9-DF42-2E562C822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112" y="3429000"/>
            <a:ext cx="5372850" cy="195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3889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4A2971-0788-4AAB-B5EF-331620A52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Autres jointures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767FB74-14A4-5F1A-E8E1-F7462E84E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D35A89D-8660-F8F8-F0E5-EAE541F82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58924"/>
            <a:ext cx="9144000" cy="1740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5409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F35AAA-7C4C-8717-1508-8AA387DEF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Merge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E2D4EDF-1708-A4E2-5C69-760C9BC9E6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Fonctionne comme </a:t>
            </a:r>
            <a:r>
              <a:rPr lang="fr-FR" dirty="0" err="1"/>
              <a:t>join</a:t>
            </a:r>
            <a:r>
              <a:rPr lang="fr-FR" dirty="0"/>
              <a:t> mais est plus souple</a:t>
            </a:r>
          </a:p>
          <a:p>
            <a:r>
              <a:rPr lang="fr-FR" dirty="0" err="1"/>
              <a:t>pd.merge</a:t>
            </a:r>
            <a:r>
              <a:rPr lang="fr-FR" dirty="0"/>
              <a:t>(right, </a:t>
            </a:r>
            <a:r>
              <a:rPr lang="fr-FR" dirty="0" err="1"/>
              <a:t>left</a:t>
            </a:r>
            <a:r>
              <a:rPr lang="fr-FR" dirty="0"/>
              <a:t>, how="</a:t>
            </a:r>
            <a:r>
              <a:rPr lang="fr-FR" dirty="0" err="1"/>
              <a:t>inner</a:t>
            </a:r>
            <a:r>
              <a:rPr lang="fr-FR" dirty="0"/>
              <a:t>")</a:t>
            </a:r>
          </a:p>
          <a:p>
            <a:r>
              <a:rPr lang="fr-FR" dirty="0" err="1"/>
              <a:t>left_on</a:t>
            </a:r>
            <a:r>
              <a:rPr lang="fr-FR" dirty="0"/>
              <a:t>="</a:t>
            </a:r>
            <a:r>
              <a:rPr lang="fr-FR" dirty="0" err="1"/>
              <a:t>nom_colonne_gauche</a:t>
            </a:r>
            <a:r>
              <a:rPr lang="fr-FR" dirty="0"/>
              <a:t>"</a:t>
            </a:r>
          </a:p>
          <a:p>
            <a:r>
              <a:rPr lang="fr-FR" dirty="0" err="1"/>
              <a:t>right_on</a:t>
            </a:r>
            <a:r>
              <a:rPr lang="fr-FR" dirty="0"/>
              <a:t> = "</a:t>
            </a:r>
            <a:r>
              <a:rPr lang="fr-FR" dirty="0" err="1"/>
              <a:t>nom_colonne_droite</a:t>
            </a:r>
            <a:r>
              <a:rPr lang="fr-FR" dirty="0"/>
              <a:t>"</a:t>
            </a:r>
          </a:p>
          <a:p>
            <a:r>
              <a:rPr lang="fr-FR" dirty="0"/>
              <a:t>suffixes=("_</a:t>
            </a:r>
            <a:r>
              <a:rPr lang="fr-FR" dirty="0" err="1"/>
              <a:t>left</a:t>
            </a:r>
            <a:r>
              <a:rPr lang="fr-FR"/>
              <a:t>", "_right")</a:t>
            </a:r>
          </a:p>
        </p:txBody>
      </p:sp>
    </p:spTree>
    <p:extLst>
      <p:ext uri="{BB962C8B-B14F-4D97-AF65-F5344CB8AC3E}">
        <p14:creationId xmlns:p14="http://schemas.microsoft.com/office/powerpoint/2010/main" val="2398919905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11995</TotalTime>
  <Words>835</Words>
  <Application>Microsoft Office PowerPoint</Application>
  <PresentationFormat>Affichage à l'écran (4:3)</PresentationFormat>
  <Paragraphs>128</Paragraphs>
  <Slides>29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4" baseType="lpstr">
      <vt:lpstr>Arial</vt:lpstr>
      <vt:lpstr>Courier New</vt:lpstr>
      <vt:lpstr>Monotype Sorts</vt:lpstr>
      <vt:lpstr>Times New Roman</vt:lpstr>
      <vt:lpstr>cvc</vt:lpstr>
      <vt:lpstr>Présentation PowerPoint</vt:lpstr>
      <vt:lpstr>Pandas</vt:lpstr>
      <vt:lpstr>Les structures de données</vt:lpstr>
      <vt:lpstr>Import des données</vt:lpstr>
      <vt:lpstr>Import de données</vt:lpstr>
      <vt:lpstr>Import de données</vt:lpstr>
      <vt:lpstr>Comment accéder aux colonnes</vt:lpstr>
      <vt:lpstr>Indexation</vt:lpstr>
      <vt:lpstr>Comment accéder aux lignes</vt:lpstr>
      <vt:lpstr>Accès par lignes</vt:lpstr>
      <vt:lpstr>Accès par numéro de lignes</vt:lpstr>
      <vt:lpstr>Describe</vt:lpstr>
      <vt:lpstr>Les séries</vt:lpstr>
      <vt:lpstr>Filtrage</vt:lpstr>
      <vt:lpstr>Les masques</vt:lpstr>
      <vt:lpstr>Filtrage</vt:lpstr>
      <vt:lpstr>Gestion des NaN</vt:lpstr>
      <vt:lpstr>Exemple</vt:lpstr>
      <vt:lpstr>apply</vt:lpstr>
      <vt:lpstr>Les axes</vt:lpstr>
      <vt:lpstr>Filtrage de texte</vt:lpstr>
      <vt:lpstr>Valeurs discrètes</vt:lpstr>
      <vt:lpstr>Discrétisation des données</vt:lpstr>
      <vt:lpstr>Itération</vt:lpstr>
      <vt:lpstr>Group by</vt:lpstr>
      <vt:lpstr>Concaténation</vt:lpstr>
      <vt:lpstr>Jointure</vt:lpstr>
      <vt:lpstr>Autres jointures</vt:lpstr>
      <vt:lpstr>Merge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283</cp:revision>
  <dcterms:created xsi:type="dcterms:W3CDTF">2000-04-10T19:33:12Z</dcterms:created>
  <dcterms:modified xsi:type="dcterms:W3CDTF">2026-09-30T06:51:16Z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