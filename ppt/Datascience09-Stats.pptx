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53" r:id="rId1"/>
  </p:sldMasterIdLst>
  <p:notesMasterIdLst>
    <p:notesMasterId r:id="rId12"/>
  </p:notesMasterIdLst>
  <p:handoutMasterIdLst>
    <p:handoutMasterId r:id="rId13"/>
  </p:handoutMasterIdLst>
  <p:sldIdLst>
    <p:sldId id="264" r:id="rId2"/>
    <p:sldId id="266" r:id="rId3"/>
    <p:sldId id="267" r:id="rId4"/>
    <p:sldId id="271" r:id="rId5"/>
    <p:sldId id="272" r:id="rId6"/>
    <p:sldId id="268" r:id="rId7"/>
    <p:sldId id="270" r:id="rId8"/>
    <p:sldId id="273" r:id="rId9"/>
    <p:sldId id="269" r:id="rId10"/>
    <p:sldId id="274" r:id="rId11"/>
  </p:sldIdLst>
  <p:sldSz cx="9144000" cy="6858000" type="screen4x3"/>
  <p:notesSz cx="6648450" cy="9782175"/>
  <p:defaultTextStyle>
    <a:defPPr>
      <a:defRPr lang="fr-FR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Arial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Arial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Arial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Arial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081">
          <p15:clr>
            <a:srgbClr val="A4A3A4"/>
          </p15:clr>
        </p15:guide>
        <p15:guide id="2" pos="2094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34" autoAdjust="0"/>
    <p:restoredTop sz="94590" autoAdjust="0"/>
  </p:normalViewPr>
  <p:slideViewPr>
    <p:cSldViewPr>
      <p:cViewPr varScale="1">
        <p:scale>
          <a:sx n="71" d="100"/>
          <a:sy n="71" d="100"/>
        </p:scale>
        <p:origin x="486" y="54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6918"/>
    </p:cViewPr>
  </p:sorterViewPr>
  <p:notesViewPr>
    <p:cSldViewPr>
      <p:cViewPr>
        <p:scale>
          <a:sx n="100" d="100"/>
          <a:sy n="100" d="100"/>
        </p:scale>
        <p:origin x="-924" y="2430"/>
      </p:cViewPr>
      <p:guideLst>
        <p:guide orient="horz" pos="3081"/>
        <p:guide pos="2094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handoutMaster" Target="handoutMasters/handout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881313" cy="488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221" tIns="45610" rIns="91221" bIns="45610" numCol="1" anchor="t" anchorCtr="0" compatLnSpc="1">
            <a:prstTxWarp prst="textNoShape">
              <a:avLst/>
            </a:prstTxWarp>
          </a:bodyPr>
          <a:lstStyle>
            <a:lvl1pPr defTabSz="912813"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54275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767138" y="0"/>
            <a:ext cx="2881312" cy="488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221" tIns="45610" rIns="91221" bIns="45610" numCol="1" anchor="t" anchorCtr="0" compatLnSpc="1">
            <a:prstTxWarp prst="textNoShape">
              <a:avLst/>
            </a:prstTxWarp>
          </a:bodyPr>
          <a:lstStyle>
            <a:lvl1pPr algn="r" defTabSz="912813"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54276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9293225"/>
            <a:ext cx="2881313" cy="488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221" tIns="45610" rIns="91221" bIns="45610" numCol="1" anchor="b" anchorCtr="0" compatLnSpc="1">
            <a:prstTxWarp prst="textNoShape">
              <a:avLst/>
            </a:prstTxWarp>
          </a:bodyPr>
          <a:lstStyle>
            <a:lvl1pPr defTabSz="912813"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54277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767138" y="9293225"/>
            <a:ext cx="2881312" cy="488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221" tIns="45610" rIns="91221" bIns="45610" numCol="1" anchor="b" anchorCtr="0" compatLnSpc="1">
            <a:prstTxWarp prst="textNoShape">
              <a:avLst/>
            </a:prstTxWarp>
          </a:bodyPr>
          <a:lstStyle>
            <a:lvl1pPr algn="r" defTabSz="912813">
              <a:defRPr sz="1000">
                <a:latin typeface="Arial" charset="0"/>
              </a:defRPr>
            </a:lvl1pPr>
          </a:lstStyle>
          <a:p>
            <a:pPr>
              <a:defRPr/>
            </a:pPr>
            <a:fld id="{05A6847E-ECD8-4888-9A6C-CBE85B378C12}" type="slidenum">
              <a:rPr lang="fr-FR"/>
              <a:pPr>
                <a:defRPr/>
              </a:pPr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19439950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881313" cy="488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221" tIns="45610" rIns="91221" bIns="45610" numCol="1" anchor="t" anchorCtr="0" compatLnSpc="1">
            <a:prstTxWarp prst="textNoShape">
              <a:avLst/>
            </a:prstTxWarp>
          </a:bodyPr>
          <a:lstStyle>
            <a:lvl1pPr defTabSz="912813"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25603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767138" y="0"/>
            <a:ext cx="2881312" cy="488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221" tIns="45610" rIns="91221" bIns="45610" numCol="1" anchor="t" anchorCtr="0" compatLnSpc="1">
            <a:prstTxWarp prst="textNoShape">
              <a:avLst/>
            </a:prstTxWarp>
          </a:bodyPr>
          <a:lstStyle>
            <a:lvl1pPr algn="r" defTabSz="912813"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21508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876300" y="733425"/>
            <a:ext cx="4895850" cy="36703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5605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379413" y="4646613"/>
            <a:ext cx="5851525" cy="44021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221" tIns="45610" rIns="91221" bIns="4561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fr-FR" noProof="0"/>
              <a:t>Cliquez pour modifier les styles du texte du masque</a:t>
            </a:r>
          </a:p>
          <a:p>
            <a:pPr lvl="1"/>
            <a:r>
              <a:rPr lang="fr-FR" noProof="0"/>
              <a:t>Deuxième niveau</a:t>
            </a:r>
          </a:p>
          <a:p>
            <a:pPr lvl="2"/>
            <a:r>
              <a:rPr lang="fr-FR" noProof="0"/>
              <a:t>Troisième niveau</a:t>
            </a:r>
          </a:p>
          <a:p>
            <a:pPr lvl="3"/>
            <a:r>
              <a:rPr lang="fr-FR" noProof="0"/>
              <a:t>Quatrième niveau</a:t>
            </a:r>
          </a:p>
          <a:p>
            <a:pPr lvl="4"/>
            <a:r>
              <a:rPr lang="fr-FR" noProof="0"/>
              <a:t>Cinquième niveau</a:t>
            </a:r>
          </a:p>
        </p:txBody>
      </p:sp>
      <p:sp>
        <p:nvSpPr>
          <p:cNvPr id="25606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9293225"/>
            <a:ext cx="2881313" cy="488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221" tIns="45610" rIns="91221" bIns="45610" numCol="1" anchor="b" anchorCtr="0" compatLnSpc="1">
            <a:prstTxWarp prst="textNoShape">
              <a:avLst/>
            </a:prstTxWarp>
          </a:bodyPr>
          <a:lstStyle>
            <a:lvl1pPr defTabSz="912813">
              <a:defRPr sz="800">
                <a:latin typeface="Arial" charset="0"/>
              </a:defRPr>
            </a:lvl1pPr>
          </a:lstStyle>
          <a:p>
            <a:pPr>
              <a:defRPr/>
            </a:pPr>
            <a:r>
              <a:rPr lang="fr-FR"/>
              <a:t>© HANDSHAKE - Philippe MASINA</a:t>
            </a:r>
          </a:p>
        </p:txBody>
      </p:sp>
      <p:sp>
        <p:nvSpPr>
          <p:cNvPr id="25607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767138" y="9293225"/>
            <a:ext cx="2881312" cy="488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221" tIns="45610" rIns="91221" bIns="45610" numCol="1" anchor="b" anchorCtr="0" compatLnSpc="1">
            <a:prstTxWarp prst="textNoShape">
              <a:avLst/>
            </a:prstTxWarp>
          </a:bodyPr>
          <a:lstStyle>
            <a:lvl1pPr algn="r" defTabSz="912813">
              <a:defRPr sz="800">
                <a:latin typeface="Arial" charset="0"/>
              </a:defRPr>
            </a:lvl1pPr>
          </a:lstStyle>
          <a:p>
            <a:pPr>
              <a:defRPr/>
            </a:pPr>
            <a:r>
              <a:rPr lang="fr-FR"/>
              <a:t>I-</a:t>
            </a:r>
            <a:fld id="{88B410AF-14E7-4D87-8C8E-6E377E0C2388}" type="slidenum">
              <a:rPr lang="fr-FR"/>
              <a:pPr>
                <a:defRPr/>
              </a:pPr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300224585"/>
      </p:ext>
    </p:extLst>
  </p:cSld>
  <p:clrMap bg1="lt1" tx1="dk1" bg2="lt2" tx2="dk2" accent1="accent1" accent2="accent2" accent3="accent3" accent4="accent4" accent5="accent5" accent6="accent6" hlink="hlink" folHlink="folHlink"/>
  <p:hf hdr="0" dt="0"/>
  <p:notesStyle>
    <a:lvl1pPr algn="l" rtl="0" eaLnBrk="0" fontAlgn="base" hangingPunct="0">
      <a:spcBef>
        <a:spcPct val="30000"/>
      </a:spcBef>
      <a:spcAft>
        <a:spcPct val="0"/>
      </a:spcAft>
      <a:defRPr sz="1000" kern="1200">
        <a:solidFill>
          <a:schemeClr val="tx1"/>
        </a:solidFill>
        <a:latin typeface="Arial" charset="0"/>
        <a:ea typeface="+mn-ea"/>
        <a:cs typeface="Arial" charset="0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000" kern="1200">
        <a:solidFill>
          <a:schemeClr val="tx1"/>
        </a:solidFill>
        <a:latin typeface="Arial" charset="0"/>
        <a:ea typeface="+mn-ea"/>
        <a:cs typeface="Arial" charset="0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000" kern="1200">
        <a:solidFill>
          <a:schemeClr val="tx1"/>
        </a:solidFill>
        <a:latin typeface="Arial" charset="0"/>
        <a:ea typeface="+mn-ea"/>
        <a:cs typeface="Arial" charset="0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000" kern="1200">
        <a:solidFill>
          <a:schemeClr val="tx1"/>
        </a:solidFill>
        <a:latin typeface="Arial" charset="0"/>
        <a:ea typeface="+mn-ea"/>
        <a:cs typeface="Arial" charset="0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000" kern="1200">
        <a:solidFill>
          <a:schemeClr val="tx1"/>
        </a:solidFill>
        <a:latin typeface="Arial" charset="0"/>
        <a:ea typeface="+mn-ea"/>
        <a:cs typeface="Arial" charset="0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fr-FR"/>
              <a:t>Cliquez pour modifier le style des sous-titres du masque</a:t>
            </a:r>
          </a:p>
        </p:txBody>
      </p:sp>
    </p:spTree>
    <p:extLst>
      <p:ext uri="{BB962C8B-B14F-4D97-AF65-F5344CB8AC3E}">
        <p14:creationId xmlns:p14="http://schemas.microsoft.com/office/powerpoint/2010/main" val="211891354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187624" y="13209"/>
            <a:ext cx="7829947" cy="1143000"/>
          </a:xfrm>
        </p:spPr>
        <p:txBody>
          <a:bodyPr/>
          <a:lstStyle>
            <a:lvl1pPr>
              <a:defRPr sz="3200"/>
            </a:lvl1pPr>
          </a:lstStyle>
          <a:p>
            <a:r>
              <a:rPr lang="fr-FR" dirty="0"/>
              <a:t>Cliquez pour modifier le style du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179512" y="1412776"/>
            <a:ext cx="8766051" cy="5040560"/>
          </a:xfrm>
        </p:spPr>
        <p:txBody>
          <a:bodyPr/>
          <a:lstStyle/>
          <a:p>
            <a:pPr lvl="0"/>
            <a:r>
              <a:rPr lang="fr-FR" dirty="0"/>
              <a:t>Cliquez pour modifier les styles du texte du masque</a:t>
            </a:r>
          </a:p>
          <a:p>
            <a:pPr lvl="1"/>
            <a:r>
              <a:rPr lang="fr-FR" dirty="0"/>
              <a:t>Deuxième niveau</a:t>
            </a:r>
          </a:p>
          <a:p>
            <a:pPr lvl="2"/>
            <a:r>
              <a:rPr lang="fr-FR" dirty="0"/>
              <a:t>Troisième niveau</a:t>
            </a:r>
          </a:p>
          <a:p>
            <a:pPr lvl="3"/>
            <a:r>
              <a:rPr lang="fr-FR" dirty="0"/>
              <a:t>Quatrième niveau</a:t>
            </a:r>
          </a:p>
          <a:p>
            <a:pPr lvl="4"/>
            <a:r>
              <a:rPr lang="fr-FR" dirty="0"/>
              <a:t>Cinquième niveau</a:t>
            </a:r>
          </a:p>
        </p:txBody>
      </p:sp>
    </p:spTree>
    <p:extLst>
      <p:ext uri="{BB962C8B-B14F-4D97-AF65-F5344CB8AC3E}">
        <p14:creationId xmlns:p14="http://schemas.microsoft.com/office/powerpoint/2010/main" val="101034240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1173163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5135563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</p:spTree>
    <p:extLst>
      <p:ext uri="{BB962C8B-B14F-4D97-AF65-F5344CB8AC3E}">
        <p14:creationId xmlns:p14="http://schemas.microsoft.com/office/powerpoint/2010/main" val="389275675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</p:spTree>
    <p:extLst>
      <p:ext uri="{BB962C8B-B14F-4D97-AF65-F5344CB8AC3E}">
        <p14:creationId xmlns:p14="http://schemas.microsoft.com/office/powerpoint/2010/main" val="156881897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Cliquez pour modifier le style du titre</a:t>
            </a:r>
          </a:p>
        </p:txBody>
      </p:sp>
    </p:spTree>
    <p:extLst>
      <p:ext uri="{BB962C8B-B14F-4D97-AF65-F5344CB8AC3E}">
        <p14:creationId xmlns:p14="http://schemas.microsoft.com/office/powerpoint/2010/main" val="366428650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78062004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</p:spTree>
    <p:extLst>
      <p:ext uri="{BB962C8B-B14F-4D97-AF65-F5344CB8AC3E}">
        <p14:creationId xmlns:p14="http://schemas.microsoft.com/office/powerpoint/2010/main" val="285589986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fr-FR" noProof="0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</p:spTree>
    <p:extLst>
      <p:ext uri="{BB962C8B-B14F-4D97-AF65-F5344CB8AC3E}">
        <p14:creationId xmlns:p14="http://schemas.microsoft.com/office/powerpoint/2010/main" val="237193463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</p:spTree>
    <p:extLst>
      <p:ext uri="{BB962C8B-B14F-4D97-AF65-F5344CB8AC3E}">
        <p14:creationId xmlns:p14="http://schemas.microsoft.com/office/powerpoint/2010/main" val="425494686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7002463" y="457200"/>
            <a:ext cx="1943100" cy="5638800"/>
          </a:xfrm>
        </p:spPr>
        <p:txBody>
          <a:bodyPr vert="eaVert"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1173163" y="457200"/>
            <a:ext cx="5676900" cy="5638800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</p:spTree>
    <p:extLst>
      <p:ext uri="{BB962C8B-B14F-4D97-AF65-F5344CB8AC3E}">
        <p14:creationId xmlns:p14="http://schemas.microsoft.com/office/powerpoint/2010/main" val="271671717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ChangeArrowheads="1"/>
          </p:cNvSpPr>
          <p:nvPr/>
        </p:nvSpPr>
        <p:spPr bwMode="auto">
          <a:xfrm>
            <a:off x="0" y="6477000"/>
            <a:ext cx="9144000" cy="76200"/>
          </a:xfrm>
          <a:prstGeom prst="rect">
            <a:avLst/>
          </a:prstGeom>
          <a:solidFill>
            <a:srgbClr val="FF66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defRPr/>
            </a:pPr>
            <a:endParaRPr lang="fr-FR" altLang="fr-FR"/>
          </a:p>
        </p:txBody>
      </p:sp>
      <p:sp>
        <p:nvSpPr>
          <p:cNvPr id="1027" name="Text Box 3"/>
          <p:cNvSpPr txBox="1">
            <a:spLocks noChangeArrowheads="1"/>
          </p:cNvSpPr>
          <p:nvPr/>
        </p:nvSpPr>
        <p:spPr bwMode="auto">
          <a:xfrm>
            <a:off x="6934200" y="6553200"/>
            <a:ext cx="1219200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50000"/>
              </a:spcBef>
              <a:defRPr/>
            </a:pPr>
            <a:r>
              <a:rPr lang="fr-FR" sz="1200" dirty="0"/>
              <a:t>Page </a:t>
            </a:r>
            <a:fld id="{E218E9B1-FD08-4C80-902E-210BA2967D0D}" type="slidenum">
              <a:rPr lang="fr-FR" sz="1200" smtClean="0"/>
              <a:pPr>
                <a:spcBef>
                  <a:spcPct val="50000"/>
                </a:spcBef>
                <a:defRPr/>
              </a:pPr>
              <a:t>‹N°›</a:t>
            </a:fld>
            <a:endParaRPr lang="fr-FR" dirty="0">
              <a:latin typeface="Times New Roman" pitchFamily="18" charset="0"/>
            </a:endParaRPr>
          </a:p>
        </p:txBody>
      </p:sp>
      <p:sp>
        <p:nvSpPr>
          <p:cNvPr id="1028" name="Text Box 4"/>
          <p:cNvSpPr txBox="1">
            <a:spLocks noChangeArrowheads="1"/>
          </p:cNvSpPr>
          <p:nvPr/>
        </p:nvSpPr>
        <p:spPr bwMode="auto">
          <a:xfrm>
            <a:off x="2209800" y="6553200"/>
            <a:ext cx="4724400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algn="ctr">
              <a:spcBef>
                <a:spcPct val="50000"/>
              </a:spcBef>
              <a:defRPr/>
            </a:pPr>
            <a:r>
              <a:rPr lang="fr-FR" sz="1600" dirty="0"/>
              <a:t>Python</a:t>
            </a:r>
            <a:endParaRPr lang="fr-FR" dirty="0">
              <a:latin typeface="Times New Roman" pitchFamily="18" charset="0"/>
            </a:endParaRPr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title"/>
          </p:nvPr>
        </p:nvSpPr>
        <p:spPr bwMode="auto">
          <a:xfrm>
            <a:off x="1177925" y="0"/>
            <a:ext cx="77724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fr-FR" altLang="fr-FR"/>
              <a:t>Cliquez pour modifier le style du titre du masque</a:t>
            </a:r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body" idx="1"/>
          </p:nvPr>
        </p:nvSpPr>
        <p:spPr bwMode="auto">
          <a:xfrm>
            <a:off x="179388" y="1196975"/>
            <a:ext cx="8766175" cy="5280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fr-FR" altLang="fr-FR"/>
              <a:t>Cliquez pour modifier les styles du texte du masque</a:t>
            </a:r>
          </a:p>
          <a:p>
            <a:pPr lvl="1"/>
            <a:r>
              <a:rPr lang="fr-FR" altLang="fr-FR"/>
              <a:t>Deuxième niveau</a:t>
            </a:r>
          </a:p>
          <a:p>
            <a:pPr lvl="2"/>
            <a:r>
              <a:rPr lang="fr-FR" altLang="fr-FR"/>
              <a:t>Troisième niveau</a:t>
            </a:r>
          </a:p>
          <a:p>
            <a:pPr lvl="3"/>
            <a:r>
              <a:rPr lang="fr-FR" altLang="fr-FR"/>
              <a:t>Quatrième niveau</a:t>
            </a:r>
          </a:p>
          <a:p>
            <a:pPr lvl="4"/>
            <a:r>
              <a:rPr lang="fr-FR" altLang="fr-FR"/>
              <a:t>Cinquième niveau</a:t>
            </a:r>
          </a:p>
        </p:txBody>
      </p:sp>
      <p:sp>
        <p:nvSpPr>
          <p:cNvPr id="1031" name="Text Box 7"/>
          <p:cNvSpPr txBox="1">
            <a:spLocks noChangeArrowheads="1"/>
          </p:cNvSpPr>
          <p:nvPr/>
        </p:nvSpPr>
        <p:spPr bwMode="auto">
          <a:xfrm>
            <a:off x="0" y="6521450"/>
            <a:ext cx="3429000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50000"/>
              </a:spcBef>
              <a:defRPr/>
            </a:pPr>
            <a:r>
              <a:rPr lang="fr-FR" sz="1200"/>
              <a:t>© Cyril Vincent Conseil</a:t>
            </a:r>
            <a:endParaRPr lang="fr-FR">
              <a:latin typeface="Times New Roman" pitchFamily="18" charset="0"/>
            </a:endParaRPr>
          </a:p>
        </p:txBody>
      </p:sp>
      <p:pic>
        <p:nvPicPr>
          <p:cNvPr id="1032" name="Picture 8" descr="cartevisite"/>
          <p:cNvPicPr>
            <a:picLocks noChangeAspect="1" noChangeArrowheads="1"/>
          </p:cNvPicPr>
          <p:nvPr/>
        </p:nvPicPr>
        <p:blipFill>
          <a:blip r:embed="rId1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187450" cy="768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54" r:id="rId1"/>
    <p:sldLayoutId id="2147483655" r:id="rId2"/>
    <p:sldLayoutId id="2147483656" r:id="rId3"/>
    <p:sldLayoutId id="2147483657" r:id="rId4"/>
    <p:sldLayoutId id="2147483658" r:id="rId5"/>
    <p:sldLayoutId id="2147483659" r:id="rId6"/>
    <p:sldLayoutId id="2147483660" r:id="rId7"/>
    <p:sldLayoutId id="2147483661" r:id="rId8"/>
    <p:sldLayoutId id="2147483662" r:id="rId9"/>
    <p:sldLayoutId id="2147483663" r:id="rId10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32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3200">
          <a:solidFill>
            <a:schemeClr val="tx2"/>
          </a:solidFill>
          <a:latin typeface="Arial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3200">
          <a:solidFill>
            <a:schemeClr val="tx2"/>
          </a:solidFill>
          <a:latin typeface="Arial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3200">
          <a:solidFill>
            <a:schemeClr val="tx2"/>
          </a:solidFill>
          <a:latin typeface="Arial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3200">
          <a:solidFill>
            <a:schemeClr val="tx2"/>
          </a:solidFill>
          <a:latin typeface="Arial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Arial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Arial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Arial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Arial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Font typeface="Monotype Sorts" pitchFamily="2" charset="2"/>
        <a:buChar char="o"/>
        <a:defRPr sz="28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4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0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+mn-lt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5"/>
          <p:cNvSpPr>
            <a:spLocks noGrp="1" noChangeArrowheads="1"/>
          </p:cNvSpPr>
          <p:nvPr>
            <p:ph type="subTitle" idx="1"/>
          </p:nvPr>
        </p:nvSpPr>
        <p:spPr/>
        <p:txBody>
          <a:bodyPr/>
          <a:lstStyle/>
          <a:p>
            <a:pPr eaLnBrk="1" hangingPunct="1"/>
            <a:r>
              <a:rPr lang="fr-FR" altLang="fr-FR"/>
              <a:t>Chapitre </a:t>
            </a:r>
            <a:r>
              <a:rPr lang="fr-FR" altLang="fr-FR" dirty="0"/>
              <a:t>9</a:t>
            </a:r>
          </a:p>
          <a:p>
            <a:pPr eaLnBrk="1" hangingPunct="1"/>
            <a:r>
              <a:rPr lang="fr-FR" altLang="fr-FR" dirty="0"/>
              <a:t>Statistiques</a:t>
            </a:r>
          </a:p>
        </p:txBody>
      </p:sp>
      <p:pic>
        <p:nvPicPr>
          <p:cNvPr id="2" name="Imag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14437" y="5023445"/>
            <a:ext cx="6715125" cy="1285875"/>
          </a:xfrm>
          <a:prstGeom prst="rect">
            <a:avLst/>
          </a:prstGeom>
        </p:spPr>
      </p:pic>
      <p:sp>
        <p:nvSpPr>
          <p:cNvPr id="3" name="ZoneTexte 2"/>
          <p:cNvSpPr txBox="1"/>
          <p:nvPr/>
        </p:nvSpPr>
        <p:spPr>
          <a:xfrm>
            <a:off x="1902037" y="2132856"/>
            <a:ext cx="5339924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fr-FR" sz="3600" dirty="0"/>
              <a:t>Python</a:t>
            </a:r>
          </a:p>
          <a:p>
            <a:pPr algn="ctr"/>
            <a:r>
              <a:rPr lang="fr-FR" sz="3600" dirty="0"/>
              <a:t>pour le calcul scientifique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Ecart type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Mesure la dispersion des variables</a:t>
            </a:r>
          </a:p>
          <a:p>
            <a:pPr lvl="1"/>
            <a:r>
              <a:rPr lang="fr-FR" dirty="0"/>
              <a:t>Racine carrée de la variance</a:t>
            </a:r>
          </a:p>
          <a:p>
            <a:pPr lvl="1"/>
            <a:r>
              <a:rPr lang="fr-FR" dirty="0"/>
              <a:t>Moyenne est écarts par rapport à une moyenne</a:t>
            </a:r>
          </a:p>
          <a:p>
            <a:pPr lvl="1"/>
            <a:r>
              <a:rPr lang="fr-FR" dirty="0"/>
              <a:t>Souvent noté sigma</a:t>
            </a:r>
          </a:p>
          <a:p>
            <a:r>
              <a:rPr lang="fr-FR" dirty="0"/>
              <a:t>Voici 2 échantillons avec la même moyenne mais des écarts types différents</a:t>
            </a:r>
          </a:p>
        </p:txBody>
      </p:sp>
      <p:pic>
        <p:nvPicPr>
          <p:cNvPr id="3074" name="Picture 2" descr="https://upload.wikimedia.org/wikipedia/commons/thumb/f/f9/Comparison_standard_deviations.svg/612px-Comparison_standard_deviations.svg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76792" y="4149081"/>
            <a:ext cx="3071450" cy="22734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04003267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Loi normale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Il est fréquent de considérer que les valeurs se répartissent selon une courbe de Gauss</a:t>
            </a:r>
          </a:p>
          <a:p>
            <a:pPr lvl="1"/>
            <a:r>
              <a:rPr lang="fr-FR" dirty="0"/>
              <a:t>Dans le cas des sciences sociales, par exemple, la moyenne et l'écart type permettent de déterminer un intervalle dans lequel on trouve une majorité de la population</a:t>
            </a:r>
          </a:p>
          <a:p>
            <a:pPr lvl="1"/>
            <a:endParaRPr lang="fr-FR" dirty="0"/>
          </a:p>
        </p:txBody>
      </p:sp>
      <p:pic>
        <p:nvPicPr>
          <p:cNvPr id="4098" name="Picture 2" descr="https://upload.wikimedia.org/wikipedia/commons/thumb/8/8c/Standard_deviation_diagram.svg/400px-Standard_deviation_diagram.svg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39752" y="4221088"/>
            <a:ext cx="3810000" cy="1905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29343264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Loi normal</a:t>
            </a:r>
          </a:p>
        </p:txBody>
      </p:sp>
      <p:pic>
        <p:nvPicPr>
          <p:cNvPr id="4" name="Imag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337" y="1809750"/>
            <a:ext cx="9077325" cy="3238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5705554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Loi normale</a:t>
            </a:r>
            <a:endParaRPr lang="fr-FR" dirty="0"/>
          </a:p>
        </p:txBody>
      </p:sp>
      <p:sp>
        <p:nvSpPr>
          <p:cNvPr id="5" name="Rectangle 1"/>
          <p:cNvSpPr>
            <a:spLocks noChangeArrowheads="1"/>
          </p:cNvSpPr>
          <p:nvPr/>
        </p:nvSpPr>
        <p:spPr bwMode="auto">
          <a:xfrm>
            <a:off x="49106" y="2636912"/>
            <a:ext cx="9105378" cy="175432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fr-FR" altLang="fr-FR" sz="12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x = </a:t>
            </a:r>
            <a:r>
              <a:rPr kumimoji="0" lang="fr-FR" altLang="fr-FR" sz="12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np.arange</a:t>
            </a:r>
            <a:r>
              <a:rPr kumimoji="0" lang="fr-FR" altLang="fr-FR" sz="12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(-</a:t>
            </a:r>
            <a:r>
              <a:rPr kumimoji="0" lang="fr-FR" altLang="fr-FR" sz="1200" b="0" i="0" u="none" strike="noStrike" cap="none" normalizeH="0" baseline="0" dirty="0">
                <a:ln>
                  <a:noFill/>
                </a:ln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100</a:t>
            </a:r>
            <a:r>
              <a:rPr kumimoji="0" lang="fr-FR" altLang="fr-FR" sz="12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kumimoji="0" lang="fr-FR" altLang="fr-FR" sz="1200" b="0" i="0" u="none" strike="noStrike" cap="none" normalizeH="0" baseline="0" dirty="0">
                <a:ln>
                  <a:noFill/>
                </a:ln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100</a:t>
            </a:r>
            <a:r>
              <a:rPr kumimoji="0" lang="fr-FR" altLang="fr-FR" sz="12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</a:t>
            </a:r>
            <a:br>
              <a:rPr kumimoji="0" lang="fr-FR" altLang="fr-FR" sz="12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kumimoji="0" lang="fr-FR" altLang="fr-FR" sz="12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mu = </a:t>
            </a:r>
            <a:r>
              <a:rPr kumimoji="0" lang="fr-FR" altLang="fr-FR" sz="1200" b="0" i="0" u="none" strike="noStrike" cap="none" normalizeH="0" baseline="0" dirty="0">
                <a:ln>
                  <a:noFill/>
                </a:ln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0</a:t>
            </a:r>
            <a:br>
              <a:rPr kumimoji="0" lang="fr-FR" altLang="fr-FR" sz="1200" b="0" i="0" u="none" strike="noStrike" cap="none" normalizeH="0" baseline="0" dirty="0">
                <a:ln>
                  <a:noFill/>
                </a:ln>
                <a:solidFill>
                  <a:srgbClr val="0000FF"/>
                </a:solidFill>
                <a:effectLst/>
                <a:latin typeface="Consolas" panose="020B0609020204030204" pitchFamily="49" charset="0"/>
              </a:rPr>
            </a:br>
            <a:r>
              <a:rPr kumimoji="0" lang="fr-FR" altLang="fr-FR" sz="12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sigma = </a:t>
            </a:r>
            <a:r>
              <a:rPr kumimoji="0" lang="fr-FR" altLang="fr-FR" sz="1200" b="0" i="0" u="none" strike="noStrike" cap="none" normalizeH="0" baseline="0" dirty="0">
                <a:ln>
                  <a:noFill/>
                </a:ln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20</a:t>
            </a:r>
            <a:br>
              <a:rPr kumimoji="0" lang="fr-FR" altLang="fr-FR" sz="1200" b="0" i="0" u="none" strike="noStrike" cap="none" normalizeH="0" baseline="0" dirty="0">
                <a:ln>
                  <a:noFill/>
                </a:ln>
                <a:solidFill>
                  <a:srgbClr val="0000FF"/>
                </a:solidFill>
                <a:effectLst/>
                <a:latin typeface="Consolas" panose="020B0609020204030204" pitchFamily="49" charset="0"/>
              </a:rPr>
            </a:br>
            <a:br>
              <a:rPr kumimoji="0" lang="fr-FR" altLang="fr-FR" sz="1200" b="0" i="0" u="none" strike="noStrike" cap="none" normalizeH="0" baseline="0" dirty="0">
                <a:ln>
                  <a:noFill/>
                </a:ln>
                <a:solidFill>
                  <a:srgbClr val="0000FF"/>
                </a:solidFill>
                <a:effectLst/>
                <a:latin typeface="Consolas" panose="020B0609020204030204" pitchFamily="49" charset="0"/>
              </a:rPr>
            </a:br>
            <a:r>
              <a:rPr kumimoji="0" lang="fr-FR" altLang="fr-FR" sz="12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f = </a:t>
            </a:r>
            <a:r>
              <a:rPr kumimoji="0" lang="fr-FR" altLang="fr-FR" sz="1200" b="1" i="0" u="none" strike="noStrike" cap="none" normalizeH="0" baseline="0" dirty="0">
                <a:ln>
                  <a:noFill/>
                </a:ln>
                <a:solidFill>
                  <a:srgbClr val="000080"/>
                </a:solidFill>
                <a:effectLst/>
                <a:latin typeface="Consolas" panose="020B0609020204030204" pitchFamily="49" charset="0"/>
              </a:rPr>
              <a:t>lambda </a:t>
            </a:r>
            <a:r>
              <a:rPr kumimoji="0" lang="fr-FR" altLang="fr-FR" sz="12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x : </a:t>
            </a:r>
            <a:r>
              <a:rPr kumimoji="0" lang="fr-FR" altLang="fr-FR" sz="1200" b="0" i="0" u="none" strike="noStrike" cap="none" normalizeH="0" baseline="0" dirty="0">
                <a:ln>
                  <a:noFill/>
                </a:ln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kumimoji="0" lang="fr-FR" altLang="fr-FR" sz="12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/(</a:t>
            </a:r>
            <a:r>
              <a:rPr kumimoji="0" lang="fr-FR" altLang="fr-FR" sz="12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np.sqrt</a:t>
            </a:r>
            <a:r>
              <a:rPr kumimoji="0" lang="fr-FR" altLang="fr-FR" sz="12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kumimoji="0" lang="fr-FR" altLang="fr-FR" sz="1200" b="0" i="0" u="none" strike="noStrike" cap="none" normalizeH="0" baseline="0" dirty="0">
                <a:ln>
                  <a:noFill/>
                </a:ln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2</a:t>
            </a:r>
            <a:r>
              <a:rPr kumimoji="0" lang="fr-FR" altLang="fr-FR" sz="12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*</a:t>
            </a:r>
            <a:r>
              <a:rPr kumimoji="0" lang="fr-FR" altLang="fr-FR" sz="12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np.pi</a:t>
            </a:r>
            <a:r>
              <a:rPr kumimoji="0" lang="fr-FR" altLang="fr-FR" sz="12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*</a:t>
            </a:r>
            <a:r>
              <a:rPr kumimoji="0" lang="fr-FR" altLang="fr-FR" sz="12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np.power</a:t>
            </a:r>
            <a:r>
              <a:rPr kumimoji="0" lang="fr-FR" altLang="fr-FR" sz="12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(sigma,</a:t>
            </a:r>
            <a:r>
              <a:rPr kumimoji="0" lang="fr-FR" altLang="fr-FR" sz="1200" b="0" i="0" u="none" strike="noStrike" cap="none" normalizeH="0" baseline="0" dirty="0">
                <a:ln>
                  <a:noFill/>
                </a:ln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2</a:t>
            </a:r>
            <a:r>
              <a:rPr kumimoji="0" lang="fr-FR" altLang="fr-FR" sz="12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))) * </a:t>
            </a:r>
            <a:r>
              <a:rPr kumimoji="0" lang="fr-FR" altLang="fr-FR" sz="12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np.exp</a:t>
            </a:r>
            <a:r>
              <a:rPr kumimoji="0" lang="fr-FR" altLang="fr-FR" sz="12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(-</a:t>
            </a:r>
            <a:r>
              <a:rPr kumimoji="0" lang="fr-FR" altLang="fr-FR" sz="12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np.power</a:t>
            </a:r>
            <a:r>
              <a:rPr kumimoji="0" lang="fr-FR" altLang="fr-FR" sz="12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((x-mu),</a:t>
            </a:r>
            <a:r>
              <a:rPr kumimoji="0" lang="fr-FR" altLang="fr-FR" sz="1200" b="0" i="0" u="none" strike="noStrike" cap="none" normalizeH="0" baseline="0" dirty="0">
                <a:ln>
                  <a:noFill/>
                </a:ln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2</a:t>
            </a:r>
            <a:r>
              <a:rPr kumimoji="0" lang="fr-FR" altLang="fr-FR" sz="12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)/(</a:t>
            </a:r>
            <a:r>
              <a:rPr kumimoji="0" lang="fr-FR" altLang="fr-FR" sz="1200" b="0" i="0" u="none" strike="noStrike" cap="none" normalizeH="0" baseline="0" dirty="0">
                <a:ln>
                  <a:noFill/>
                </a:ln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2</a:t>
            </a:r>
            <a:r>
              <a:rPr kumimoji="0" lang="fr-FR" altLang="fr-FR" sz="12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*</a:t>
            </a:r>
            <a:r>
              <a:rPr kumimoji="0" lang="fr-FR" altLang="fr-FR" sz="12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np.power</a:t>
            </a:r>
            <a:r>
              <a:rPr kumimoji="0" lang="fr-FR" altLang="fr-FR" sz="12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(sigma,</a:t>
            </a:r>
            <a:r>
              <a:rPr kumimoji="0" lang="fr-FR" altLang="fr-FR" sz="1200" b="0" i="0" u="none" strike="noStrike" cap="none" normalizeH="0" baseline="0" dirty="0">
                <a:ln>
                  <a:noFill/>
                </a:ln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2</a:t>
            </a:r>
            <a:r>
              <a:rPr kumimoji="0" lang="fr-FR" altLang="fr-FR" sz="12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)))</a:t>
            </a:r>
            <a:br>
              <a:rPr kumimoji="0" lang="fr-FR" altLang="fr-FR" sz="12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br>
              <a:rPr kumimoji="0" lang="fr-FR" altLang="fr-FR" sz="12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kumimoji="0" lang="fr-FR" altLang="fr-FR" sz="12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y = f(x)</a:t>
            </a:r>
            <a:br>
              <a:rPr kumimoji="0" lang="fr-FR" altLang="fr-FR" sz="12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kumimoji="0" lang="fr-FR" altLang="fr-FR" sz="12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plt.plot</a:t>
            </a:r>
            <a:r>
              <a:rPr kumimoji="0" lang="fr-FR" altLang="fr-FR" sz="12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(x, y)</a:t>
            </a:r>
            <a:br>
              <a:rPr kumimoji="0" lang="fr-FR" altLang="fr-FR" sz="12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kumimoji="0" lang="fr-FR" altLang="fr-FR" sz="12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plt.show</a:t>
            </a:r>
            <a:r>
              <a:rPr kumimoji="0" lang="fr-FR" altLang="fr-FR" sz="12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</a:t>
            </a:r>
            <a:endParaRPr kumimoji="0" lang="fr-FR" altLang="fr-FR" sz="2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6370434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Loi normale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Avec le calcul de la distribution des données il est possible de filtrer les données trop éloignée de la loi normale</a:t>
            </a:r>
          </a:p>
          <a:p>
            <a:pPr lvl="1"/>
            <a:r>
              <a:rPr lang="fr-FR" dirty="0"/>
              <a:t>Possibilité de filtrer les données &gt; 3 * Sigma</a:t>
            </a:r>
          </a:p>
          <a:p>
            <a:r>
              <a:rPr lang="fr-FR" dirty="0"/>
              <a:t>Possibilité de calculer la médiane, quartile, décile, centile</a:t>
            </a:r>
          </a:p>
          <a:p>
            <a:pPr lvl="1"/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71418219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Stat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Outils pour les statistiques</a:t>
            </a:r>
          </a:p>
          <a:p>
            <a:endParaRPr lang="fr-FR" dirty="0"/>
          </a:p>
          <a:p>
            <a:endParaRPr lang="fr-FR" dirty="0"/>
          </a:p>
          <a:p>
            <a:endParaRPr lang="fr-FR" dirty="0"/>
          </a:p>
          <a:p>
            <a:endParaRPr lang="fr-FR" dirty="0"/>
          </a:p>
          <a:p>
            <a:r>
              <a:rPr lang="fr-FR" dirty="0"/>
              <a:t>Le 2</a:t>
            </a:r>
            <a:r>
              <a:rPr lang="fr-FR" baseline="30000" dirty="0"/>
              <a:t>ème</a:t>
            </a:r>
            <a:r>
              <a:rPr lang="fr-FR" dirty="0"/>
              <a:t> paramètre est l’axe (axis)</a:t>
            </a:r>
          </a:p>
          <a:p>
            <a:pPr lvl="1"/>
            <a:r>
              <a:rPr lang="fr-FR" dirty="0"/>
              <a:t>None (défaut) calcul sur la matrice aplatie</a:t>
            </a:r>
          </a:p>
          <a:p>
            <a:pPr lvl="1"/>
            <a:r>
              <a:rPr lang="fr-FR" dirty="0"/>
              <a:t>0 : Calcul sur la dimension 0 (lignes)</a:t>
            </a:r>
          </a:p>
          <a:p>
            <a:pPr lvl="1"/>
            <a:r>
              <a:rPr lang="fr-FR" dirty="0"/>
              <a:t>1 : Calcul par colonne</a:t>
            </a:r>
          </a:p>
          <a:p>
            <a:pPr lvl="1"/>
            <a:r>
              <a:rPr lang="fr-FR" dirty="0"/>
              <a:t>N : Calcul sur la dimension n, notion de réduction</a:t>
            </a:r>
          </a:p>
          <a:p>
            <a:endParaRPr lang="fr-FR" dirty="0"/>
          </a:p>
        </p:txBody>
      </p:sp>
      <p:pic>
        <p:nvPicPr>
          <p:cNvPr id="4" name="Imag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7584" y="2060848"/>
            <a:ext cx="6457366" cy="17281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9245216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Théorème centrale limite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Soit une matrice aléatoires avec des valeurs [-n, n]</a:t>
            </a:r>
          </a:p>
          <a:p>
            <a:pPr lvl="1"/>
            <a:r>
              <a:rPr lang="fr-FR" dirty="0"/>
              <a:t>La moyenne et la somme est 0</a:t>
            </a:r>
          </a:p>
          <a:p>
            <a:pPr lvl="1"/>
            <a:r>
              <a:rPr lang="fr-FR" dirty="0"/>
              <a:t>La distribution des sommes des lignes est gaussienne centrée sur 0</a:t>
            </a:r>
          </a:p>
          <a:p>
            <a:pPr lvl="1"/>
            <a:r>
              <a:rPr lang="fr-FR" dirty="0"/>
              <a:t>Médiane = moyenne</a:t>
            </a:r>
          </a:p>
          <a:p>
            <a:pPr lvl="1"/>
            <a:endParaRPr lang="fr-FR" dirty="0"/>
          </a:p>
          <a:p>
            <a:pPr lvl="1"/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04123487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Cas non gaussien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Les distribution des salaire en France ne suit pas une gaussienne</a:t>
            </a:r>
          </a:p>
          <a:p>
            <a:pPr lvl="1"/>
            <a:r>
              <a:rPr lang="fr-FR" dirty="0"/>
              <a:t>C’est une gaussienne asymétrique</a:t>
            </a:r>
          </a:p>
          <a:p>
            <a:r>
              <a:rPr lang="fr-FR" dirty="0"/>
              <a:t>La moyenne et l’écart type n’ont pas de sens</a:t>
            </a:r>
          </a:p>
          <a:p>
            <a:r>
              <a:rPr lang="fr-FR" dirty="0"/>
              <a:t>Il faut utilise la médiane et les *iles</a:t>
            </a:r>
          </a:p>
          <a:p>
            <a:r>
              <a:rPr lang="fr-FR" dirty="0"/>
              <a:t>Exemple</a:t>
            </a:r>
          </a:p>
          <a:p>
            <a:pPr lvl="1"/>
            <a:r>
              <a:rPr lang="fr-FR" dirty="0"/>
              <a:t>Salaire équivalent temps plein net</a:t>
            </a:r>
          </a:p>
          <a:p>
            <a:pPr lvl="1"/>
            <a:r>
              <a:rPr lang="fr-FR" dirty="0"/>
              <a:t>Salaire moyen : 2250 €</a:t>
            </a:r>
          </a:p>
          <a:p>
            <a:pPr lvl="1"/>
            <a:r>
              <a:rPr lang="fr-FR" dirty="0"/>
              <a:t>Salaire médian : 1797 €</a:t>
            </a:r>
          </a:p>
          <a:p>
            <a:pPr lvl="1"/>
            <a:endParaRPr lang="fr-FR" dirty="0"/>
          </a:p>
        </p:txBody>
      </p:sp>
      <p:pic>
        <p:nvPicPr>
          <p:cNvPr id="5122" name="Picture 2" descr="Résultat de recherche d'images pour &quot;distribution des salaires en france&quot;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57864" y="3789040"/>
            <a:ext cx="3367370" cy="226257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44090741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Cas non gaussiens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 err="1"/>
              <a:t>Median</a:t>
            </a:r>
            <a:endParaRPr lang="fr-FR" dirty="0"/>
          </a:p>
          <a:p>
            <a:pPr lvl="1"/>
            <a:r>
              <a:rPr lang="fr-FR" dirty="0"/>
              <a:t>Médiane</a:t>
            </a:r>
          </a:p>
          <a:p>
            <a:pPr lvl="1"/>
            <a:r>
              <a:rPr lang="fr-FR" dirty="0"/>
              <a:t>50% des valeurs au dessous et 50% </a:t>
            </a:r>
            <a:r>
              <a:rPr lang="fr-FR"/>
              <a:t>au dessus</a:t>
            </a:r>
            <a:endParaRPr lang="fr-FR" dirty="0"/>
          </a:p>
          <a:p>
            <a:r>
              <a:rPr lang="fr-FR" dirty="0"/>
              <a:t>Quantile</a:t>
            </a:r>
          </a:p>
          <a:p>
            <a:pPr lvl="1"/>
            <a:r>
              <a:rPr lang="fr-FR" dirty="0"/>
              <a:t>Le 2</a:t>
            </a:r>
            <a:r>
              <a:rPr lang="fr-FR" baseline="30000" dirty="0"/>
              <a:t>ème</a:t>
            </a:r>
            <a:r>
              <a:rPr lang="fr-FR" dirty="0"/>
              <a:t> paramètre représente le quantile</a:t>
            </a:r>
          </a:p>
          <a:p>
            <a:pPr lvl="1"/>
            <a:r>
              <a:rPr lang="fr-FR" dirty="0"/>
              <a:t>0.5 = médiane</a:t>
            </a:r>
          </a:p>
          <a:p>
            <a:pPr lvl="1"/>
            <a:r>
              <a:rPr lang="fr-FR" dirty="0"/>
              <a:t>0.25 = quartile</a:t>
            </a:r>
          </a:p>
          <a:p>
            <a:pPr lvl="1"/>
            <a:r>
              <a:rPr lang="fr-FR" dirty="0"/>
              <a:t>0.1 = décile</a:t>
            </a:r>
          </a:p>
        </p:txBody>
      </p:sp>
      <p:pic>
        <p:nvPicPr>
          <p:cNvPr id="2050" name="Picture 2" descr="https://media.geeksforgeeks.org/wp-content/uploads/quantile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21042" y="4437112"/>
            <a:ext cx="3600400" cy="192187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934027036"/>
      </p:ext>
    </p:extLst>
  </p:cSld>
  <p:clrMapOvr>
    <a:masterClrMapping/>
  </p:clrMapOvr>
</p:sld>
</file>

<file path=ppt/theme/theme1.xml><?xml version="1.0" encoding="utf-8"?>
<a:theme xmlns:a="http://schemas.openxmlformats.org/drawingml/2006/main" name="cvc">
  <a:themeElements>
    <a:clrScheme name="cvc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cvc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gradFill rotWithShape="0">
          <a:gsLst>
            <a:gs pos="0">
              <a:schemeClr val="accent1"/>
            </a:gs>
            <a:gs pos="100000">
              <a:schemeClr val="bg1"/>
            </a:gs>
          </a:gsLst>
          <a:lin ang="5400000" scaled="1"/>
        </a:gra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fr-FR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gradFill rotWithShape="0">
          <a:gsLst>
            <a:gs pos="0">
              <a:schemeClr val="accent1"/>
            </a:gs>
            <a:gs pos="100000">
              <a:schemeClr val="bg1"/>
            </a:gs>
          </a:gsLst>
          <a:lin ang="5400000" scaled="1"/>
        </a:gra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fr-FR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lnDef>
  </a:objectDefaults>
  <a:extraClrSchemeLst>
    <a:extraClrScheme>
      <a:clrScheme name="cvc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vc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cvc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vc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vc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vc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vc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Thème Offic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Thème Offic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5861</TotalTime>
  <Words>394</Words>
  <Application>Microsoft Office PowerPoint</Application>
  <PresentationFormat>Affichage à l'écran (4:3)</PresentationFormat>
  <Paragraphs>54</Paragraphs>
  <Slides>10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4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10</vt:i4>
      </vt:variant>
    </vt:vector>
  </HeadingPairs>
  <TitlesOfParts>
    <vt:vector size="15" baseType="lpstr">
      <vt:lpstr>Arial</vt:lpstr>
      <vt:lpstr>Consolas</vt:lpstr>
      <vt:lpstr>Monotype Sorts</vt:lpstr>
      <vt:lpstr>Times New Roman</vt:lpstr>
      <vt:lpstr>cvc</vt:lpstr>
      <vt:lpstr>Présentation PowerPoint</vt:lpstr>
      <vt:lpstr>Ecart type</vt:lpstr>
      <vt:lpstr>Loi normale</vt:lpstr>
      <vt:lpstr>Loi normal</vt:lpstr>
      <vt:lpstr>Loi normale</vt:lpstr>
      <vt:lpstr>Loi normale</vt:lpstr>
      <vt:lpstr>Stat</vt:lpstr>
      <vt:lpstr>Théorème centrale limite</vt:lpstr>
      <vt:lpstr>Cas non gaussien</vt:lpstr>
      <vt:lpstr>Cas non gaussiens</vt:lpstr>
    </vt:vector>
  </TitlesOfParts>
  <Company>jkhjkjkh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Internet</dc:title>
  <dc:creator>jhkhkhkj</dc:creator>
  <cp:lastModifiedBy>Cyril Vincent</cp:lastModifiedBy>
  <cp:revision>309</cp:revision>
  <dcterms:created xsi:type="dcterms:W3CDTF">2000-04-10T19:33:12Z</dcterms:created>
  <dcterms:modified xsi:type="dcterms:W3CDTF">2026-09-09T13:04:31Z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Version">
    <vt:lpwstr>0.1</vt:lpwstr>
  </property>
</Properties>
</file>