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2"/>
  </p:notesMasterIdLst>
  <p:handoutMasterIdLst>
    <p:handoutMasterId r:id="rId53"/>
  </p:handoutMasterIdLst>
  <p:sldIdLst>
    <p:sldId id="264" r:id="rId2"/>
    <p:sldId id="266" r:id="rId3"/>
    <p:sldId id="350" r:id="rId4"/>
    <p:sldId id="267" r:id="rId5"/>
    <p:sldId id="351" r:id="rId6"/>
    <p:sldId id="352" r:id="rId7"/>
    <p:sldId id="353" r:id="rId8"/>
    <p:sldId id="354" r:id="rId9"/>
    <p:sldId id="270" r:id="rId10"/>
    <p:sldId id="271" r:id="rId11"/>
    <p:sldId id="355" r:id="rId12"/>
    <p:sldId id="273" r:id="rId13"/>
    <p:sldId id="274" r:id="rId14"/>
    <p:sldId id="275" r:id="rId15"/>
    <p:sldId id="334" r:id="rId16"/>
    <p:sldId id="279" r:id="rId17"/>
    <p:sldId id="280" r:id="rId18"/>
    <p:sldId id="281" r:id="rId19"/>
    <p:sldId id="282" r:id="rId20"/>
    <p:sldId id="283" r:id="rId21"/>
    <p:sldId id="284" r:id="rId22"/>
    <p:sldId id="285" r:id="rId23"/>
    <p:sldId id="308" r:id="rId24"/>
    <p:sldId id="309" r:id="rId25"/>
    <p:sldId id="286" r:id="rId26"/>
    <p:sldId id="287" r:id="rId27"/>
    <p:sldId id="288" r:id="rId28"/>
    <p:sldId id="289" r:id="rId29"/>
    <p:sldId id="290" r:id="rId30"/>
    <p:sldId id="291" r:id="rId31"/>
    <p:sldId id="292" r:id="rId32"/>
    <p:sldId id="335" r:id="rId33"/>
    <p:sldId id="336" r:id="rId34"/>
    <p:sldId id="348" r:id="rId35"/>
    <p:sldId id="345" r:id="rId36"/>
    <p:sldId id="293" r:id="rId37"/>
    <p:sldId id="294" r:id="rId38"/>
    <p:sldId id="295" r:id="rId39"/>
    <p:sldId id="296" r:id="rId40"/>
    <p:sldId id="297" r:id="rId41"/>
    <p:sldId id="298" r:id="rId42"/>
    <p:sldId id="299" r:id="rId43"/>
    <p:sldId id="300" r:id="rId44"/>
    <p:sldId id="349" r:id="rId45"/>
    <p:sldId id="304" r:id="rId46"/>
    <p:sldId id="272" r:id="rId47"/>
    <p:sldId id="333" r:id="rId48"/>
    <p:sldId id="322" r:id="rId49"/>
    <p:sldId id="340" r:id="rId50"/>
    <p:sldId id="341" r:id="rId51"/>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8" d="100"/>
          <a:sy n="78"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a:t>
            </a:r>
          </a:p>
          <a:p>
            <a:pPr eaLnBrk="1" hangingPunct="1"/>
            <a:r>
              <a:rPr lang="fr-FR" altLang="fr-FR"/>
              <a:t>Introduction</a:t>
            </a:r>
            <a:endParaRPr lang="fr-FR" altLang="fr-FR" dirty="0"/>
          </a:p>
        </p:txBody>
      </p:sp>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1907704" y="2132856"/>
            <a:ext cx="6365845" cy="646331"/>
          </a:xfrm>
          <a:prstGeom prst="rect">
            <a:avLst/>
          </a:prstGeom>
          <a:noFill/>
        </p:spPr>
        <p:txBody>
          <a:bodyPr wrap="none" rtlCol="0">
            <a:spAutoFit/>
          </a:bodyPr>
          <a:lstStyle/>
          <a:p>
            <a:r>
              <a:rPr lang="fr-FR" sz="3600" dirty="0"/>
              <a:t>P</a:t>
            </a:r>
            <a:r>
              <a:rPr lang="fr-FR" sz="3600"/>
              <a:t>ython </a:t>
            </a:r>
            <a:r>
              <a:rPr lang="fr-FR" sz="3600" dirty="0"/>
              <a:t>pour les </a:t>
            </a:r>
            <a:r>
              <a:rPr lang="fr-FR" sz="3600" dirty="0" err="1"/>
              <a:t>DataSciences</a:t>
            </a:r>
            <a:endParaRPr lang="fr-F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1187450" y="12700"/>
            <a:ext cx="7829550" cy="1143000"/>
          </a:xfrm>
        </p:spPr>
        <p:txBody>
          <a:bodyPr/>
          <a:lstStyle/>
          <a:p>
            <a:r>
              <a:rPr lang="fr-FR" altLang="fr-FR" dirty="0"/>
              <a:t>Python</a:t>
            </a:r>
          </a:p>
        </p:txBody>
      </p:sp>
      <p:sp>
        <p:nvSpPr>
          <p:cNvPr id="3075" name="Espace réservé du contenu 2"/>
          <p:cNvSpPr>
            <a:spLocks noGrp="1"/>
          </p:cNvSpPr>
          <p:nvPr>
            <p:ph idx="1"/>
          </p:nvPr>
        </p:nvSpPr>
        <p:spPr>
          <a:xfrm>
            <a:off x="179388" y="1412776"/>
            <a:ext cx="8766175" cy="5040313"/>
          </a:xfrm>
        </p:spPr>
        <p:txBody>
          <a:bodyPr/>
          <a:lstStyle/>
          <a:p>
            <a:r>
              <a:rPr lang="fr-FR" altLang="fr-FR" dirty="0"/>
              <a:t>Python est un langage de programmation objet et multiplateformes</a:t>
            </a:r>
          </a:p>
          <a:p>
            <a:r>
              <a:rPr lang="fr-FR" altLang="fr-FR" dirty="0"/>
              <a:t>Python est libre</a:t>
            </a:r>
          </a:p>
          <a:p>
            <a:r>
              <a:rPr lang="fr-FR" altLang="fr-FR" dirty="0"/>
              <a:t>Créé par Guido van </a:t>
            </a:r>
            <a:r>
              <a:rPr lang="fr-FR" altLang="fr-FR" dirty="0" err="1"/>
              <a:t>Rossum</a:t>
            </a:r>
            <a:endParaRPr lang="fr-FR" altLang="fr-FR" dirty="0"/>
          </a:p>
          <a:p>
            <a:pPr lvl="1"/>
            <a:r>
              <a:rPr lang="fr-FR" altLang="fr-FR" dirty="0"/>
              <a:t>Hommage aux Monty Python</a:t>
            </a:r>
          </a:p>
          <a:p>
            <a:r>
              <a:rPr lang="fr-FR" altLang="fr-FR" dirty="0"/>
              <a:t>Python 3</a:t>
            </a:r>
          </a:p>
        </p:txBody>
      </p:sp>
      <p:pic>
        <p:nvPicPr>
          <p:cNvPr id="5" name="Image 4"/>
          <p:cNvPicPr>
            <a:picLocks noChangeAspect="1"/>
          </p:cNvPicPr>
          <p:nvPr/>
        </p:nvPicPr>
        <p:blipFill>
          <a:blip r:embed="rId2"/>
          <a:stretch>
            <a:fillRect/>
          </a:stretch>
        </p:blipFill>
        <p:spPr>
          <a:xfrm>
            <a:off x="-4573016" y="5135005"/>
            <a:ext cx="6715125" cy="1285875"/>
          </a:xfrm>
          <a:prstGeom prst="rect">
            <a:avLst/>
          </a:prstGeom>
        </p:spPr>
      </p:pic>
      <p:pic>
        <p:nvPicPr>
          <p:cNvPr id="7" name="Picture 2" descr="Afficher l'image d'orig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3904" y="2141204"/>
            <a:ext cx="3813096" cy="27406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Guido</a:t>
            </a:r>
          </a:p>
        </p:txBody>
      </p:sp>
      <p:sp>
        <p:nvSpPr>
          <p:cNvPr id="3" name="Espace réservé du contenu 2"/>
          <p:cNvSpPr>
            <a:spLocks noGrp="1"/>
          </p:cNvSpPr>
          <p:nvPr>
            <p:ph idx="1"/>
          </p:nvPr>
        </p:nvSpPr>
        <p:spPr>
          <a:xfrm>
            <a:off x="179513" y="1412776"/>
            <a:ext cx="7128792" cy="5040560"/>
          </a:xfrm>
        </p:spPr>
        <p:txBody>
          <a:bodyPr/>
          <a:lstStyle/>
          <a:p>
            <a:r>
              <a:rPr lang="fr-FR" dirty="0"/>
              <a:t>There </a:t>
            </a:r>
            <a:r>
              <a:rPr lang="fr-FR" dirty="0" err="1"/>
              <a:t>should</a:t>
            </a:r>
            <a:r>
              <a:rPr lang="fr-FR" dirty="0"/>
              <a:t> </a:t>
            </a:r>
            <a:r>
              <a:rPr lang="fr-FR" dirty="0" err="1"/>
              <a:t>be</a:t>
            </a:r>
            <a:r>
              <a:rPr lang="fr-FR" dirty="0"/>
              <a:t> one -- and </a:t>
            </a:r>
            <a:r>
              <a:rPr lang="fr-FR" dirty="0" err="1"/>
              <a:t>preferably</a:t>
            </a:r>
            <a:r>
              <a:rPr lang="fr-FR" dirty="0"/>
              <a:t> </a:t>
            </a:r>
            <a:r>
              <a:rPr lang="fr-FR" dirty="0" err="1"/>
              <a:t>only</a:t>
            </a:r>
            <a:r>
              <a:rPr lang="fr-FR" dirty="0"/>
              <a:t> one -- </a:t>
            </a:r>
            <a:r>
              <a:rPr lang="fr-FR" dirty="0" err="1"/>
              <a:t>obvious</a:t>
            </a:r>
            <a:r>
              <a:rPr lang="fr-FR" dirty="0"/>
              <a:t> </a:t>
            </a:r>
            <a:r>
              <a:rPr lang="fr-FR" dirty="0" err="1"/>
              <a:t>way</a:t>
            </a:r>
            <a:r>
              <a:rPr lang="fr-FR" dirty="0"/>
              <a:t> to do </a:t>
            </a:r>
            <a:r>
              <a:rPr lang="fr-FR" dirty="0" err="1"/>
              <a:t>it</a:t>
            </a:r>
            <a:endParaRPr lang="fr-FR" dirty="0"/>
          </a:p>
          <a:p>
            <a:pPr lvl="1"/>
            <a:r>
              <a:rPr lang="fr-FR" dirty="0"/>
              <a:t>il devrait exister une (et de préférence une seule) manière évidente de procéder ;</a:t>
            </a:r>
          </a:p>
          <a:p>
            <a:r>
              <a:rPr lang="fr-FR" dirty="0" err="1"/>
              <a:t>Although</a:t>
            </a:r>
            <a:r>
              <a:rPr lang="fr-FR" dirty="0"/>
              <a:t> </a:t>
            </a:r>
            <a:r>
              <a:rPr lang="fr-FR" dirty="0" err="1"/>
              <a:t>that</a:t>
            </a:r>
            <a:r>
              <a:rPr lang="fr-FR" dirty="0"/>
              <a:t> </a:t>
            </a:r>
            <a:r>
              <a:rPr lang="fr-FR" dirty="0" err="1"/>
              <a:t>way</a:t>
            </a:r>
            <a:r>
              <a:rPr lang="fr-FR" dirty="0"/>
              <a:t> </a:t>
            </a:r>
            <a:r>
              <a:rPr lang="fr-FR" dirty="0" err="1"/>
              <a:t>may</a:t>
            </a:r>
            <a:r>
              <a:rPr lang="fr-FR" dirty="0"/>
              <a:t> not </a:t>
            </a:r>
            <a:r>
              <a:rPr lang="fr-FR" dirty="0" err="1"/>
              <a:t>be</a:t>
            </a:r>
            <a:r>
              <a:rPr lang="fr-FR" dirty="0"/>
              <a:t> </a:t>
            </a:r>
            <a:r>
              <a:rPr lang="fr-FR" dirty="0" err="1"/>
              <a:t>obvious</a:t>
            </a:r>
            <a:r>
              <a:rPr lang="fr-FR" dirty="0"/>
              <a:t> at first </a:t>
            </a:r>
            <a:r>
              <a:rPr lang="fr-FR" dirty="0" err="1"/>
              <a:t>unless</a:t>
            </a:r>
            <a:r>
              <a:rPr lang="fr-FR" dirty="0"/>
              <a:t> </a:t>
            </a:r>
            <a:r>
              <a:rPr lang="fr-FR" dirty="0" err="1"/>
              <a:t>you're</a:t>
            </a:r>
            <a:r>
              <a:rPr lang="fr-FR" dirty="0"/>
              <a:t> Dutch</a:t>
            </a:r>
          </a:p>
          <a:p>
            <a:pPr lvl="1"/>
            <a:r>
              <a:rPr lang="fr-FR" dirty="0"/>
              <a:t>même si cette manière n'est pas forcément évidente au premier abord, à moins que vous ne soyez Néerlandais ; </a:t>
            </a:r>
          </a:p>
          <a:p>
            <a:endParaRPr lang="fr-FR" dirty="0"/>
          </a:p>
        </p:txBody>
      </p:sp>
      <p:pic>
        <p:nvPicPr>
          <p:cNvPr id="4" name="Picture 2" descr="https://upload.wikimedia.org/wikipedia/commons/thumb/6/66/Guido_van_Rossum_OSCON_2006.jpg/150px-Guido_van_Rossum_OSCON_20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2023" y="1425673"/>
            <a:ext cx="2055631" cy="308344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p:cNvPicPr>
            <a:picLocks noChangeAspect="1"/>
          </p:cNvPicPr>
          <p:nvPr/>
        </p:nvPicPr>
        <p:blipFill>
          <a:blip r:embed="rId3"/>
          <a:stretch>
            <a:fillRect/>
          </a:stretch>
        </p:blipFill>
        <p:spPr>
          <a:xfrm>
            <a:off x="-1612528" y="5179965"/>
            <a:ext cx="6715125" cy="1285875"/>
          </a:xfrm>
          <a:prstGeom prst="rect">
            <a:avLst/>
          </a:prstGeom>
        </p:spPr>
      </p:pic>
    </p:spTree>
    <p:extLst>
      <p:ext uri="{BB962C8B-B14F-4D97-AF65-F5344CB8AC3E}">
        <p14:creationId xmlns:p14="http://schemas.microsoft.com/office/powerpoint/2010/main" val="66525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1187450" y="12700"/>
            <a:ext cx="7829550" cy="1143000"/>
          </a:xfrm>
        </p:spPr>
        <p:txBody>
          <a:bodyPr/>
          <a:lstStyle/>
          <a:p>
            <a:r>
              <a:rPr lang="fr-FR" altLang="fr-FR" dirty="0"/>
              <a:t>Python</a:t>
            </a:r>
          </a:p>
        </p:txBody>
      </p:sp>
      <p:sp>
        <p:nvSpPr>
          <p:cNvPr id="3075" name="Espace réservé du contenu 2"/>
          <p:cNvSpPr>
            <a:spLocks noGrp="1"/>
          </p:cNvSpPr>
          <p:nvPr>
            <p:ph idx="1"/>
          </p:nvPr>
        </p:nvSpPr>
        <p:spPr>
          <a:xfrm>
            <a:off x="179388" y="1412875"/>
            <a:ext cx="8766175" cy="5040313"/>
          </a:xfrm>
        </p:spPr>
        <p:txBody>
          <a:bodyPr/>
          <a:lstStyle/>
          <a:p>
            <a:r>
              <a:rPr lang="fr-FR" altLang="fr-FR" dirty="0"/>
              <a:t>Python est un langage de haut niveau mais simple</a:t>
            </a:r>
          </a:p>
          <a:p>
            <a:r>
              <a:rPr lang="fr-FR" altLang="fr-FR" dirty="0"/>
              <a:t>Python est interprété</a:t>
            </a:r>
          </a:p>
          <a:p>
            <a:pPr lvl="1"/>
            <a:r>
              <a:rPr lang="fr-FR" altLang="fr-FR" dirty="0"/>
              <a:t>Pas le plus rapide</a:t>
            </a:r>
          </a:p>
          <a:p>
            <a:r>
              <a:rPr lang="fr-FR" altLang="fr-FR" dirty="0"/>
              <a:t>Python favorise la programmation impérative structurée, fonctionnelle et orientée objet</a:t>
            </a:r>
          </a:p>
          <a:p>
            <a:r>
              <a:rPr lang="fr-FR" altLang="fr-FR" dirty="0"/>
              <a:t>Python 3.x</a:t>
            </a:r>
          </a:p>
          <a:p>
            <a:pPr lvl="1"/>
            <a:r>
              <a:rPr lang="fr-FR" altLang="fr-FR" dirty="0"/>
              <a:t>Grosses différences avec Python 2.x</a:t>
            </a:r>
          </a:p>
          <a:p>
            <a:endParaRPr lang="fr-FR" altLang="fr-FR" dirty="0"/>
          </a:p>
        </p:txBody>
      </p:sp>
      <p:pic>
        <p:nvPicPr>
          <p:cNvPr id="5" name="Image 4"/>
          <p:cNvPicPr>
            <a:picLocks noChangeAspect="1"/>
          </p:cNvPicPr>
          <p:nvPr/>
        </p:nvPicPr>
        <p:blipFill>
          <a:blip r:embed="rId2"/>
          <a:stretch>
            <a:fillRect/>
          </a:stretch>
        </p:blipFill>
        <p:spPr>
          <a:xfrm>
            <a:off x="22097" y="5167313"/>
            <a:ext cx="6715125" cy="1285875"/>
          </a:xfrm>
          <a:prstGeom prst="rect">
            <a:avLst/>
          </a:prstGeom>
        </p:spPr>
      </p:pic>
    </p:spTree>
    <p:extLst>
      <p:ext uri="{BB962C8B-B14F-4D97-AF65-F5344CB8AC3E}">
        <p14:creationId xmlns:p14="http://schemas.microsoft.com/office/powerpoint/2010/main" val="2760713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Historique</a:t>
            </a:r>
          </a:p>
        </p:txBody>
      </p:sp>
      <p:sp>
        <p:nvSpPr>
          <p:cNvPr id="3" name="Espace réservé du contenu 2"/>
          <p:cNvSpPr>
            <a:spLocks noGrp="1"/>
          </p:cNvSpPr>
          <p:nvPr>
            <p:ph idx="1"/>
          </p:nvPr>
        </p:nvSpPr>
        <p:spPr/>
        <p:txBody>
          <a:bodyPr/>
          <a:lstStyle/>
          <a:p>
            <a:r>
              <a:rPr lang="fr-FR" sz="2400" dirty="0"/>
              <a:t>Python 1.0 (Beta) : 1990</a:t>
            </a:r>
          </a:p>
          <a:p>
            <a:r>
              <a:rPr lang="fr-FR" sz="2400" dirty="0"/>
              <a:t>Python 1.5 : 1999</a:t>
            </a:r>
          </a:p>
          <a:p>
            <a:r>
              <a:rPr lang="fr-FR" sz="2400" dirty="0"/>
              <a:t>Python 2.0 : 2000</a:t>
            </a:r>
          </a:p>
          <a:p>
            <a:pPr lvl="1"/>
            <a:r>
              <a:rPr lang="fr-FR" sz="2000" dirty="0"/>
              <a:t>Unicode</a:t>
            </a:r>
          </a:p>
          <a:p>
            <a:r>
              <a:rPr lang="fr-FR" sz="2400" dirty="0"/>
              <a:t>Python 2.7 : 2010</a:t>
            </a:r>
          </a:p>
          <a:p>
            <a:pPr lvl="1"/>
            <a:r>
              <a:rPr lang="fr-FR" sz="2000" dirty="0"/>
              <a:t>Encore très utilisé</a:t>
            </a:r>
          </a:p>
          <a:p>
            <a:r>
              <a:rPr lang="fr-FR" sz="2400" dirty="0"/>
              <a:t>Python 3.0 : 2008</a:t>
            </a:r>
          </a:p>
          <a:p>
            <a:pPr lvl="1"/>
            <a:r>
              <a:rPr lang="fr-FR" sz="2000" dirty="0"/>
              <a:t>Rupture, pas de </a:t>
            </a:r>
            <a:r>
              <a:rPr lang="fr-FR" sz="2000"/>
              <a:t>compatibilité descendante</a:t>
            </a:r>
          </a:p>
          <a:p>
            <a:pPr lvl="1"/>
            <a:r>
              <a:rPr lang="fr-FR" sz="2000" dirty="0"/>
              <a:t>Séparation de </a:t>
            </a:r>
            <a:r>
              <a:rPr lang="fr-FR" sz="2000" dirty="0" err="1"/>
              <a:t>str</a:t>
            </a:r>
            <a:r>
              <a:rPr lang="fr-FR" sz="2000" dirty="0"/>
              <a:t> et bytes, les </a:t>
            </a:r>
            <a:r>
              <a:rPr lang="fr-FR" sz="2000" dirty="0" err="1"/>
              <a:t>str</a:t>
            </a:r>
            <a:r>
              <a:rPr lang="fr-FR" sz="2000" dirty="0"/>
              <a:t> sont en Unicode par défaut</a:t>
            </a:r>
          </a:p>
          <a:p>
            <a:pPr lvl="1"/>
            <a:r>
              <a:rPr lang="fr-FR" sz="2000" dirty="0"/>
              <a:t>/ flottant</a:t>
            </a:r>
          </a:p>
          <a:p>
            <a:pPr lvl="1"/>
            <a:r>
              <a:rPr lang="fr-FR" sz="2000" dirty="0"/>
              <a:t>Booléens</a:t>
            </a:r>
          </a:p>
          <a:p>
            <a:pPr lvl="1"/>
            <a:r>
              <a:rPr lang="fr-FR" sz="2000" dirty="0"/>
              <a:t>Disparition de __init__.py</a:t>
            </a:r>
          </a:p>
          <a:p>
            <a:r>
              <a:rPr lang="fr-FR" sz="2400" dirty="0"/>
              <a:t>Python 3.5 : 2015</a:t>
            </a:r>
          </a:p>
        </p:txBody>
      </p:sp>
      <p:pic>
        <p:nvPicPr>
          <p:cNvPr id="7" name="Image 6"/>
          <p:cNvPicPr>
            <a:picLocks noChangeAspect="1"/>
          </p:cNvPicPr>
          <p:nvPr/>
        </p:nvPicPr>
        <p:blipFill>
          <a:blip r:embed="rId2"/>
          <a:stretch>
            <a:fillRect/>
          </a:stretch>
        </p:blipFill>
        <p:spPr>
          <a:xfrm>
            <a:off x="3905547" y="5157192"/>
            <a:ext cx="6715125" cy="1285875"/>
          </a:xfrm>
          <a:prstGeom prst="rect">
            <a:avLst/>
          </a:prstGeom>
        </p:spPr>
      </p:pic>
    </p:spTree>
    <p:extLst>
      <p:ext uri="{BB962C8B-B14F-4D97-AF65-F5344CB8AC3E}">
        <p14:creationId xmlns:p14="http://schemas.microsoft.com/office/powerpoint/2010/main" val="1717822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1187450" y="12700"/>
            <a:ext cx="7829550" cy="1143000"/>
          </a:xfrm>
        </p:spPr>
        <p:txBody>
          <a:bodyPr/>
          <a:lstStyle/>
          <a:p>
            <a:r>
              <a:rPr lang="fr-FR" altLang="fr-FR" dirty="0"/>
              <a:t>Python</a:t>
            </a:r>
          </a:p>
        </p:txBody>
      </p:sp>
      <p:sp>
        <p:nvSpPr>
          <p:cNvPr id="3075" name="Espace réservé du contenu 2"/>
          <p:cNvSpPr>
            <a:spLocks noGrp="1"/>
          </p:cNvSpPr>
          <p:nvPr>
            <p:ph idx="1"/>
          </p:nvPr>
        </p:nvSpPr>
        <p:spPr>
          <a:xfrm>
            <a:off x="179388" y="1412875"/>
            <a:ext cx="8766175" cy="5040313"/>
          </a:xfrm>
        </p:spPr>
        <p:txBody>
          <a:bodyPr/>
          <a:lstStyle/>
          <a:p>
            <a:r>
              <a:rPr lang="fr-FR" altLang="fr-FR" dirty="0"/>
              <a:t>Python est doté</a:t>
            </a:r>
          </a:p>
          <a:p>
            <a:pPr lvl="1"/>
            <a:r>
              <a:rPr lang="fr-FR" altLang="fr-FR" dirty="0"/>
              <a:t>d'un typage dynamique fort</a:t>
            </a:r>
          </a:p>
          <a:p>
            <a:pPr lvl="1"/>
            <a:r>
              <a:rPr lang="fr-FR" altLang="fr-FR" dirty="0"/>
              <a:t>d'une gestion automatique de la mémoire par ramasse-miettes</a:t>
            </a:r>
          </a:p>
          <a:p>
            <a:pPr lvl="1"/>
            <a:r>
              <a:rPr lang="fr-FR" altLang="fr-FR" dirty="0"/>
              <a:t>d'un système de gestion d'exception</a:t>
            </a:r>
          </a:p>
          <a:p>
            <a:r>
              <a:rPr lang="fr-FR" altLang="fr-FR" dirty="0"/>
              <a:t>Similaire à Perl et Ruby</a:t>
            </a:r>
          </a:p>
        </p:txBody>
      </p:sp>
      <p:pic>
        <p:nvPicPr>
          <p:cNvPr id="5" name="Picture 4"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86" y="4149080"/>
            <a:ext cx="4629150" cy="137160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p:cNvPicPr>
            <a:picLocks noChangeAspect="1"/>
          </p:cNvPicPr>
          <p:nvPr/>
        </p:nvPicPr>
        <p:blipFill>
          <a:blip r:embed="rId3"/>
          <a:stretch>
            <a:fillRect/>
          </a:stretch>
        </p:blipFill>
        <p:spPr>
          <a:xfrm>
            <a:off x="5489723" y="5167313"/>
            <a:ext cx="6715125" cy="1285875"/>
          </a:xfrm>
          <a:prstGeom prst="rect">
            <a:avLst/>
          </a:prstGeom>
        </p:spPr>
      </p:pic>
    </p:spTree>
    <p:extLst>
      <p:ext uri="{BB962C8B-B14F-4D97-AF65-F5344CB8AC3E}">
        <p14:creationId xmlns:p14="http://schemas.microsoft.com/office/powerpoint/2010/main" val="700461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Python et les autres</a:t>
            </a:r>
          </a:p>
        </p:txBody>
      </p:sp>
      <p:sp>
        <p:nvSpPr>
          <p:cNvPr id="3" name="Espace réservé du contenu 2"/>
          <p:cNvSpPr>
            <a:spLocks noGrp="1"/>
          </p:cNvSpPr>
          <p:nvPr>
            <p:ph idx="1"/>
          </p:nvPr>
        </p:nvSpPr>
        <p:spPr/>
        <p:txBody>
          <a:bodyPr/>
          <a:lstStyle/>
          <a:p>
            <a:r>
              <a:rPr lang="fr-FR" dirty="0"/>
              <a:t>Python est un mélange de C, C++, Modula et Perl</a:t>
            </a:r>
          </a:p>
          <a:p>
            <a:r>
              <a:rPr lang="fr-FR" dirty="0"/>
              <a:t>Très utilisé dans le monde du </a:t>
            </a:r>
            <a:r>
              <a:rPr lang="fr-FR" dirty="0" err="1"/>
              <a:t>scripting</a:t>
            </a:r>
            <a:endParaRPr lang="fr-FR" dirty="0"/>
          </a:p>
          <a:p>
            <a:pPr lvl="1"/>
            <a:r>
              <a:rPr lang="fr-FR" dirty="0"/>
              <a:t>Successeur de Perl</a:t>
            </a:r>
          </a:p>
          <a:p>
            <a:r>
              <a:rPr lang="fr-FR" dirty="0"/>
              <a:t>Très utilisé dans l’apprentissage objet</a:t>
            </a:r>
          </a:p>
          <a:p>
            <a:pPr lvl="1"/>
            <a:r>
              <a:rPr lang="fr-FR" dirty="0"/>
              <a:t>Moins lourd que Java et C#</a:t>
            </a:r>
          </a:p>
          <a:p>
            <a:pPr lvl="1"/>
            <a:r>
              <a:rPr lang="fr-FR" dirty="0"/>
              <a:t>Meilleurs que Perl</a:t>
            </a:r>
          </a:p>
          <a:p>
            <a:pPr lvl="1"/>
            <a:r>
              <a:rPr lang="fr-FR" dirty="0"/>
              <a:t>Moins aboutis</a:t>
            </a:r>
          </a:p>
          <a:p>
            <a:r>
              <a:rPr lang="fr-FR" dirty="0"/>
              <a:t>Très utilisé dans le </a:t>
            </a:r>
            <a:r>
              <a:rPr lang="fr-FR"/>
              <a:t>calcul scientifique</a:t>
            </a:r>
            <a:endParaRPr lang="fr-FR" dirty="0"/>
          </a:p>
          <a:p>
            <a:r>
              <a:rPr lang="fr-FR" dirty="0"/>
              <a:t>Utilisé dans le Web</a:t>
            </a:r>
          </a:p>
          <a:p>
            <a:pPr lvl="1"/>
            <a:r>
              <a:rPr lang="fr-FR" dirty="0"/>
              <a:t>Django</a:t>
            </a:r>
          </a:p>
        </p:txBody>
      </p:sp>
      <p:pic>
        <p:nvPicPr>
          <p:cNvPr id="4" name="Image 3"/>
          <p:cNvPicPr>
            <a:picLocks noChangeAspect="1"/>
          </p:cNvPicPr>
          <p:nvPr/>
        </p:nvPicPr>
        <p:blipFill>
          <a:blip r:embed="rId2"/>
          <a:stretch>
            <a:fillRect/>
          </a:stretch>
        </p:blipFill>
        <p:spPr>
          <a:xfrm>
            <a:off x="7505947" y="5167461"/>
            <a:ext cx="6715125" cy="1285875"/>
          </a:xfrm>
          <a:prstGeom prst="rect">
            <a:avLst/>
          </a:prstGeom>
        </p:spPr>
      </p:pic>
    </p:spTree>
    <p:extLst>
      <p:ext uri="{BB962C8B-B14F-4D97-AF65-F5344CB8AC3E}">
        <p14:creationId xmlns:p14="http://schemas.microsoft.com/office/powerpoint/2010/main" val="2230650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0" y="1237496"/>
            <a:ext cx="9318716" cy="3343632"/>
          </a:xfrm>
          <a:prstGeom prst="rect">
            <a:avLst/>
          </a:prstGeom>
        </p:spPr>
      </p:pic>
      <p:pic>
        <p:nvPicPr>
          <p:cNvPr id="5" name="Image 4"/>
          <p:cNvPicPr>
            <a:picLocks noChangeAspect="1"/>
          </p:cNvPicPr>
          <p:nvPr/>
        </p:nvPicPr>
        <p:blipFill>
          <a:blip r:embed="rId3"/>
          <a:stretch>
            <a:fillRect/>
          </a:stretch>
        </p:blipFill>
        <p:spPr>
          <a:xfrm>
            <a:off x="8820472" y="5157192"/>
            <a:ext cx="6715125" cy="1285875"/>
          </a:xfrm>
          <a:prstGeom prst="rect">
            <a:avLst/>
          </a:prstGeom>
        </p:spPr>
      </p:pic>
    </p:spTree>
    <p:extLst>
      <p:ext uri="{BB962C8B-B14F-4D97-AF65-F5344CB8AC3E}">
        <p14:creationId xmlns:p14="http://schemas.microsoft.com/office/powerpoint/2010/main" val="3895921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Installation</a:t>
            </a:r>
          </a:p>
        </p:txBody>
      </p:sp>
      <p:sp>
        <p:nvSpPr>
          <p:cNvPr id="3" name="Espace réservé du contenu 2"/>
          <p:cNvSpPr>
            <a:spLocks noGrp="1"/>
          </p:cNvSpPr>
          <p:nvPr>
            <p:ph idx="1"/>
          </p:nvPr>
        </p:nvSpPr>
        <p:spPr/>
        <p:txBody>
          <a:bodyPr/>
          <a:lstStyle/>
          <a:p>
            <a:r>
              <a:rPr lang="fr-FR" dirty="0"/>
              <a:t>Python.org</a:t>
            </a:r>
          </a:p>
          <a:p>
            <a:r>
              <a:rPr lang="fr-FR" dirty="0"/>
              <a:t>CLI</a:t>
            </a:r>
          </a:p>
          <a:p>
            <a:pPr lvl="1"/>
            <a:r>
              <a:rPr lang="fr-FR" dirty="0"/>
              <a:t>Python</a:t>
            </a:r>
          </a:p>
          <a:p>
            <a:pPr lvl="1"/>
            <a:r>
              <a:rPr lang="fr-FR" dirty="0"/>
              <a:t>Ou via menu démarrer</a:t>
            </a:r>
          </a:p>
        </p:txBody>
      </p:sp>
      <p:pic>
        <p:nvPicPr>
          <p:cNvPr id="3074" name="Picture 2" descr="Python est installé sous Windo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128" y="836504"/>
            <a:ext cx="4714875" cy="461962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a console Python sous Window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40" y="3284984"/>
            <a:ext cx="4355062" cy="2171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226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CLI</a:t>
            </a:r>
          </a:p>
        </p:txBody>
      </p:sp>
      <p:sp>
        <p:nvSpPr>
          <p:cNvPr id="3" name="Espace réservé du contenu 2"/>
          <p:cNvSpPr>
            <a:spLocks noGrp="1"/>
          </p:cNvSpPr>
          <p:nvPr>
            <p:ph idx="1"/>
          </p:nvPr>
        </p:nvSpPr>
        <p:spPr/>
        <p:txBody>
          <a:bodyPr/>
          <a:lstStyle/>
          <a:p>
            <a:endParaRPr lang="fr-FR"/>
          </a:p>
        </p:txBody>
      </p:sp>
      <p:pic>
        <p:nvPicPr>
          <p:cNvPr id="6" name="Image 5"/>
          <p:cNvPicPr>
            <a:picLocks noChangeAspect="1"/>
          </p:cNvPicPr>
          <p:nvPr/>
        </p:nvPicPr>
        <p:blipFill>
          <a:blip r:embed="rId2"/>
          <a:stretch>
            <a:fillRect/>
          </a:stretch>
        </p:blipFill>
        <p:spPr>
          <a:xfrm>
            <a:off x="179511" y="1407220"/>
            <a:ext cx="9648727" cy="5046116"/>
          </a:xfrm>
          <a:prstGeom prst="rect">
            <a:avLst/>
          </a:prstGeom>
        </p:spPr>
      </p:pic>
    </p:spTree>
    <p:extLst>
      <p:ext uri="{BB962C8B-B14F-4D97-AF65-F5344CB8AC3E}">
        <p14:creationId xmlns:p14="http://schemas.microsoft.com/office/powerpoint/2010/main" val="3024151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Scripts Python</a:t>
            </a:r>
          </a:p>
        </p:txBody>
      </p:sp>
      <p:sp>
        <p:nvSpPr>
          <p:cNvPr id="3" name="Espace réservé du contenu 2"/>
          <p:cNvSpPr>
            <a:spLocks noGrp="1"/>
          </p:cNvSpPr>
          <p:nvPr>
            <p:ph idx="1"/>
          </p:nvPr>
        </p:nvSpPr>
        <p:spPr/>
        <p:txBody>
          <a:bodyPr/>
          <a:lstStyle/>
          <a:p>
            <a:r>
              <a:rPr lang="fr-FR" dirty="0"/>
              <a:t>Fichiers *.</a:t>
            </a:r>
            <a:r>
              <a:rPr lang="fr-FR" dirty="0" err="1"/>
              <a:t>py</a:t>
            </a:r>
            <a:endParaRPr lang="fr-FR" dirty="0"/>
          </a:p>
          <a:p>
            <a:r>
              <a:rPr lang="fr-FR" dirty="0"/>
              <a:t>Python filename.py</a:t>
            </a:r>
          </a:p>
          <a:p>
            <a:r>
              <a:rPr lang="fr-FR" dirty="0"/>
              <a:t>Editeurs</a:t>
            </a:r>
          </a:p>
          <a:p>
            <a:pPr lvl="1"/>
            <a:r>
              <a:rPr lang="fr-FR" dirty="0"/>
              <a:t>Notepad</a:t>
            </a:r>
          </a:p>
          <a:p>
            <a:pPr lvl="1"/>
            <a:r>
              <a:rPr lang="fr-FR" dirty="0"/>
              <a:t>Visual Studio</a:t>
            </a:r>
          </a:p>
          <a:p>
            <a:pPr lvl="2"/>
            <a:r>
              <a:rPr lang="fr-FR" dirty="0"/>
              <a:t>Code</a:t>
            </a:r>
          </a:p>
          <a:p>
            <a:pPr lvl="2"/>
            <a:r>
              <a:rPr lang="fr-FR" dirty="0" err="1"/>
              <a:t>Community</a:t>
            </a:r>
            <a:endParaRPr lang="fr-FR" dirty="0"/>
          </a:p>
          <a:p>
            <a:pPr lvl="2"/>
            <a:r>
              <a:rPr lang="fr-FR" dirty="0"/>
              <a:t>Professional</a:t>
            </a:r>
          </a:p>
          <a:p>
            <a:pPr lvl="1"/>
            <a:r>
              <a:rPr lang="fr-FR" dirty="0"/>
              <a:t>Eclipse</a:t>
            </a:r>
          </a:p>
          <a:p>
            <a:pPr lvl="1"/>
            <a:r>
              <a:rPr lang="fr-FR" dirty="0" err="1"/>
              <a:t>PyCharm</a:t>
            </a:r>
            <a:endParaRPr lang="fr-FR" dirty="0"/>
          </a:p>
          <a:p>
            <a:pPr lvl="1"/>
            <a:r>
              <a:rPr lang="fr-FR" dirty="0"/>
              <a:t>…</a:t>
            </a:r>
          </a:p>
        </p:txBody>
      </p:sp>
    </p:spTree>
    <p:extLst>
      <p:ext uri="{BB962C8B-B14F-4D97-AF65-F5344CB8AC3E}">
        <p14:creationId xmlns:p14="http://schemas.microsoft.com/office/powerpoint/2010/main" val="4074893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Intellisense</a:t>
            </a:r>
            <a:endParaRPr lang="fr-FR" dirty="0"/>
          </a:p>
        </p:txBody>
      </p:sp>
      <p:pic>
        <p:nvPicPr>
          <p:cNvPr id="4" name="python-intellisense">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539552" y="908720"/>
            <a:ext cx="7967662" cy="5040313"/>
          </a:xfrm>
        </p:spPr>
      </p:pic>
    </p:spTree>
    <p:extLst>
      <p:ext uri="{BB962C8B-B14F-4D97-AF65-F5344CB8AC3E}">
        <p14:creationId xmlns:p14="http://schemas.microsoft.com/office/powerpoint/2010/main" val="11938822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PyLint</a:t>
            </a:r>
            <a:endParaRPr lang="fr-FR" dirty="0"/>
          </a:p>
        </p:txBody>
      </p:sp>
      <p:pic>
        <p:nvPicPr>
          <p:cNvPr id="4" name="python-linting">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611560" y="980728"/>
            <a:ext cx="7967662" cy="5040313"/>
          </a:xfrm>
        </p:spPr>
      </p:pic>
    </p:spTree>
    <p:extLst>
      <p:ext uri="{BB962C8B-B14F-4D97-AF65-F5344CB8AC3E}">
        <p14:creationId xmlns:p14="http://schemas.microsoft.com/office/powerpoint/2010/main" val="210763676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Debug</a:t>
            </a:r>
            <a:endParaRPr lang="fr-FR" dirty="0"/>
          </a:p>
        </p:txBody>
      </p:sp>
      <p:pic>
        <p:nvPicPr>
          <p:cNvPr id="4" name="python-debugging">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683568" y="980728"/>
            <a:ext cx="7967662" cy="5040313"/>
          </a:xfrm>
        </p:spPr>
      </p:pic>
    </p:spTree>
    <p:extLst>
      <p:ext uri="{BB962C8B-B14F-4D97-AF65-F5344CB8AC3E}">
        <p14:creationId xmlns:p14="http://schemas.microsoft.com/office/powerpoint/2010/main" val="9430505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supervisé</a:t>
            </a:r>
          </a:p>
        </p:txBody>
      </p:sp>
      <p:sp>
        <p:nvSpPr>
          <p:cNvPr id="3" name="Espace réservé du contenu 2"/>
          <p:cNvSpPr>
            <a:spLocks noGrp="1"/>
          </p:cNvSpPr>
          <p:nvPr>
            <p:ph idx="1"/>
          </p:nvPr>
        </p:nvSpPr>
        <p:spPr>
          <a:xfrm>
            <a:off x="628651" y="2226469"/>
            <a:ext cx="3499466" cy="3263504"/>
          </a:xfrm>
        </p:spPr>
        <p:txBody>
          <a:bodyPr/>
          <a:lstStyle/>
          <a:p>
            <a:r>
              <a:rPr lang="fr-FR" dirty="0"/>
              <a:t>Dans cet exemple les images ont été annotés par un expert avec leur catégorie</a:t>
            </a:r>
          </a:p>
        </p:txBody>
      </p:sp>
      <p:pic>
        <p:nvPicPr>
          <p:cNvPr id="1026" name="Picture 2" descr="Chaque image est labellée de sa catégo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1350" y="1691934"/>
            <a:ext cx="4833898" cy="3737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292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 vs Programmation</a:t>
            </a:r>
          </a:p>
        </p:txBody>
      </p:sp>
      <p:pic>
        <p:nvPicPr>
          <p:cNvPr id="1026" name="Picture 2" descr="https://dpzbhybb2pdcj.cloudfront.net/allaire/Figures/01fig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603" y="1947168"/>
            <a:ext cx="6211602" cy="3152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381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a:xfrm>
            <a:off x="628650" y="2226469"/>
            <a:ext cx="4262005" cy="3263504"/>
          </a:xfrm>
        </p:spPr>
        <p:txBody>
          <a:bodyPr/>
          <a:lstStyle/>
          <a:p>
            <a:r>
              <a:rPr lang="fr-FR" dirty="0"/>
              <a:t>En </a:t>
            </a:r>
            <a:r>
              <a:rPr lang="fr-FR" dirty="0" err="1"/>
              <a:t>Deep</a:t>
            </a:r>
            <a:r>
              <a:rPr lang="fr-FR" dirty="0"/>
              <a:t> Learning, l'idée est que l'algorithme construise une "représentation interne" tout seul </a:t>
            </a:r>
          </a:p>
          <a:p>
            <a:pPr lvl="1"/>
            <a:r>
              <a:rPr lang="fr-FR" dirty="0"/>
              <a:t>L’être humain est quasiment incapable d’écrire l’algorithme</a:t>
            </a:r>
          </a:p>
          <a:p>
            <a:r>
              <a:rPr lang="fr-FR" dirty="0"/>
              <a:t>Pour cela, il va d'abord falloir lui entrer un jeu de données d'exemples afin qu'il puisse s'entraîner</a:t>
            </a:r>
          </a:p>
          <a:p>
            <a:endParaRPr lang="fr-FR" dirty="0"/>
          </a:p>
        </p:txBody>
      </p:sp>
      <p:pic>
        <p:nvPicPr>
          <p:cNvPr id="5122" name="Picture 2" descr="MNIST - Lecture de la base de chiffres manuscrits | Intelligence  Artificielle">
            <a:extLst>
              <a:ext uri="{FF2B5EF4-FFF2-40B4-BE49-F238E27FC236}">
                <a16:creationId xmlns:a16="http://schemas.microsoft.com/office/drawing/2014/main" id="{1A4D7DB9-6909-4529-A857-5E2BF0ACA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2280914"/>
            <a:ext cx="4171950" cy="2764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347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9D51E5-13D3-4051-959E-71DF6575790E}"/>
              </a:ext>
            </a:extLst>
          </p:cNvPr>
          <p:cNvSpPr>
            <a:spLocks noGrp="1"/>
          </p:cNvSpPr>
          <p:nvPr>
            <p:ph type="title"/>
          </p:nvPr>
        </p:nvSpPr>
        <p:spPr/>
        <p:txBody>
          <a:bodyPr/>
          <a:lstStyle/>
          <a:p>
            <a:r>
              <a:rPr lang="fr-FR" dirty="0"/>
              <a:t>Prédiction</a:t>
            </a:r>
          </a:p>
        </p:txBody>
      </p:sp>
      <p:sp>
        <p:nvSpPr>
          <p:cNvPr id="3" name="Espace réservé du contenu 2">
            <a:extLst>
              <a:ext uri="{FF2B5EF4-FFF2-40B4-BE49-F238E27FC236}">
                <a16:creationId xmlns:a16="http://schemas.microsoft.com/office/drawing/2014/main" id="{6AE44763-AE4C-46F7-BB16-F40FA40A1A9B}"/>
              </a:ext>
            </a:extLst>
          </p:cNvPr>
          <p:cNvSpPr>
            <a:spLocks noGrp="1"/>
          </p:cNvSpPr>
          <p:nvPr>
            <p:ph idx="1"/>
          </p:nvPr>
        </p:nvSpPr>
        <p:spPr/>
        <p:txBody>
          <a:bodyPr/>
          <a:lstStyle/>
          <a:p>
            <a:r>
              <a:rPr lang="fr-FR" dirty="0"/>
              <a:t>Une fois l'apprentissage effectué le modèle est capable d'effectuer des prédictions sur des nouvelles données</a:t>
            </a:r>
          </a:p>
        </p:txBody>
      </p:sp>
      <p:pic>
        <p:nvPicPr>
          <p:cNvPr id="4098" name="Picture 2" descr="Applied Sciences | Free Full-Text | A Survey of Handwritten Character  Recognition with MNIST and EMNIST | HTML">
            <a:extLst>
              <a:ext uri="{FF2B5EF4-FFF2-40B4-BE49-F238E27FC236}">
                <a16:creationId xmlns:a16="http://schemas.microsoft.com/office/drawing/2014/main" id="{FE728249-27BB-4C95-91AD-87A5086EAF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8396" y="2947082"/>
            <a:ext cx="4847208" cy="2542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446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Trouver le bon modèle</a:t>
            </a:r>
          </a:p>
        </p:txBody>
      </p:sp>
      <p:sp>
        <p:nvSpPr>
          <p:cNvPr id="3" name="Espace réservé du contenu 2"/>
          <p:cNvSpPr>
            <a:spLocks noGrp="1"/>
          </p:cNvSpPr>
          <p:nvPr>
            <p:ph idx="1"/>
          </p:nvPr>
        </p:nvSpPr>
        <p:spPr/>
        <p:txBody>
          <a:bodyPr/>
          <a:lstStyle/>
          <a:p>
            <a:r>
              <a:rPr lang="fr-FR" dirty="0"/>
              <a:t>Pour résumer, le travail de modélisation consiste à trouver le bon modèle statistique qui colle le mieux aux données d'exemple</a:t>
            </a:r>
          </a:p>
          <a:p>
            <a:r>
              <a:rPr lang="fr-FR" dirty="0"/>
              <a:t>Le machine </a:t>
            </a:r>
            <a:r>
              <a:rPr lang="fr-FR" dirty="0" err="1"/>
              <a:t>learning</a:t>
            </a:r>
            <a:r>
              <a:rPr lang="fr-FR" dirty="0"/>
              <a:t> en particulier intervient pour trouver ce modèle de manière automatisée</a:t>
            </a:r>
          </a:p>
          <a:p>
            <a:r>
              <a:rPr lang="fr-FR" dirty="0"/>
              <a:t>Problème du quartet d’</a:t>
            </a:r>
            <a:r>
              <a:rPr lang="fr-FR" dirty="0" err="1"/>
              <a:t>Ascombe</a:t>
            </a:r>
            <a:endParaRPr lang="fr-FR" dirty="0"/>
          </a:p>
        </p:txBody>
      </p:sp>
    </p:spTree>
    <p:extLst>
      <p:ext uri="{BB962C8B-B14F-4D97-AF65-F5344CB8AC3E}">
        <p14:creationId xmlns:p14="http://schemas.microsoft.com/office/powerpoint/2010/main" val="541696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Quartet d’</a:t>
            </a:r>
            <a:r>
              <a:rPr lang="fr-FR" dirty="0" err="1"/>
              <a:t>Ascombe</a:t>
            </a:r>
            <a:endParaRPr lang="fr-FR" dirty="0"/>
          </a:p>
        </p:txBody>
      </p:sp>
      <p:sp>
        <p:nvSpPr>
          <p:cNvPr id="3" name="Espace réservé du contenu 2"/>
          <p:cNvSpPr>
            <a:spLocks noGrp="1"/>
          </p:cNvSpPr>
          <p:nvPr>
            <p:ph idx="1"/>
          </p:nvPr>
        </p:nvSpPr>
        <p:spPr/>
        <p:txBody>
          <a:bodyPr/>
          <a:lstStyle/>
          <a:p>
            <a:r>
              <a:rPr lang="fr-FR" dirty="0"/>
              <a:t>Ces 4 modèles possède la même régression linéaire</a:t>
            </a:r>
          </a:p>
          <a:p>
            <a:pPr lvl="1"/>
            <a:r>
              <a:rPr lang="fr-FR" dirty="0"/>
              <a:t>Trouver les erreurs</a:t>
            </a:r>
          </a:p>
        </p:txBody>
      </p:sp>
      <p:pic>
        <p:nvPicPr>
          <p:cNvPr id="4098" name="Picture 2" descr="Le quartet d'anscom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33" y="2783429"/>
            <a:ext cx="6067407" cy="4053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036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900" dirty="0" err="1"/>
              <a:t>PyTorch</a:t>
            </a:r>
            <a:endParaRPr lang="fr-FR" sz="1900" dirty="0"/>
          </a:p>
          <a:p>
            <a:pPr lvl="2"/>
            <a:r>
              <a:rPr lang="fr-FR" sz="1500" dirty="0"/>
              <a:t>Facebook</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3617</TotalTime>
  <Words>1337</Words>
  <Application>Microsoft Office PowerPoint</Application>
  <PresentationFormat>Affichage à l'écran (4:3)</PresentationFormat>
  <Paragraphs>187</Paragraphs>
  <Slides>50</Slides>
  <Notes>0</Notes>
  <HiddenSlides>0</HiddenSlides>
  <MMClips>3</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50</vt:i4>
      </vt:variant>
    </vt:vector>
  </HeadingPairs>
  <TitlesOfParts>
    <vt:vector size="54" baseType="lpstr">
      <vt:lpstr>Arial</vt:lpstr>
      <vt:lpstr>Monotype Sorts</vt:lpstr>
      <vt:lpstr>Times New Roman</vt:lpstr>
      <vt:lpstr>cvc</vt:lpstr>
      <vt:lpstr>Présentation PowerPoint</vt:lpstr>
      <vt:lpstr>Python</vt:lpstr>
      <vt:lpstr>Guido</vt:lpstr>
      <vt:lpstr>Python</vt:lpstr>
      <vt:lpstr>Historique</vt:lpstr>
      <vt:lpstr>Python</vt:lpstr>
      <vt:lpstr>Python et les autres</vt:lpstr>
      <vt:lpstr>Exemple</vt:lpstr>
      <vt:lpstr>Installation</vt:lpstr>
      <vt:lpstr>CLI</vt:lpstr>
      <vt:lpstr>Scripts Python</vt:lpstr>
      <vt:lpstr>Intellisense</vt:lpstr>
      <vt:lpstr>PyLint</vt:lpstr>
      <vt:lpstr>Debug</vt:lpstr>
      <vt:lpstr>Présentation PowerPoint</vt:lpstr>
      <vt:lpstr>Présentation PowerPoint</vt:lpstr>
      <vt:lpstr>Wikipedia</vt:lpstr>
      <vt:lpstr>Data Science</vt:lpstr>
      <vt:lpstr>Data Science</vt:lpstr>
      <vt:lpstr>Présentation PowerPoint</vt:lpstr>
      <vt:lpstr>Les langages</vt:lpstr>
      <vt:lpstr>Data Scientist</vt:lpstr>
      <vt:lpstr>Difficultés</vt:lpstr>
      <vt:lpstr>Présentation PowerPoint</vt:lpstr>
      <vt:lpstr>L'intelligence artificielle</vt:lpstr>
      <vt:lpstr>Test de Turing</vt:lpstr>
      <vt:lpstr>Copier la nature ou non</vt:lpstr>
      <vt:lpstr>IA - ML - DL</vt:lpstr>
      <vt:lpstr>Machine Learning</vt:lpstr>
      <vt:lpstr>Machine Learning</vt:lpstr>
      <vt:lpstr>Apprentissage supervisé</vt:lpstr>
      <vt:lpstr>Machine Learning vs Programmation</vt:lpstr>
      <vt:lpstr>Apprentissage</vt:lpstr>
      <vt:lpstr>Prédiction</vt:lpstr>
      <vt:lpstr>Apprentissage non supervisé ou semi-supervisé</vt:lpstr>
      <vt:lpstr>But</vt:lpstr>
      <vt:lpstr>Exemple</vt:lpstr>
      <vt:lpstr>Graphique</vt:lpstr>
      <vt:lpstr>Régression linéaire</vt:lpstr>
      <vt:lpstr>Classification</vt:lpstr>
      <vt:lpstr>Trouver le bon modèle</vt:lpstr>
      <vt:lpstr>Quartet d’Ascombe</vt:lpstr>
      <vt:lpstr>Apprentissage</vt:lpstr>
      <vt:lpstr>Les langages et Frameworks</vt:lpstr>
      <vt:lpstr>Deep Learning</vt:lpstr>
      <vt:lpstr>Workflow</vt:lpstr>
      <vt:lpstr>Les enjeux 1/3</vt:lpstr>
      <vt:lpstr>Les nouvelles sources de données</vt:lpstr>
      <vt:lpstr>Les enjeux 2/3</vt:lpstr>
      <vt:lpstr>Les enjeux 3/3</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236</cp:revision>
  <dcterms:created xsi:type="dcterms:W3CDTF">2000-04-10T19:33:12Z</dcterms:created>
  <dcterms:modified xsi:type="dcterms:W3CDTF">2026-09-09T06:44:48Z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